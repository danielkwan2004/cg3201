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71" r:id="rId3"/>
    <p:sldId id="270" r:id="rId4"/>
    <p:sldId id="260" r:id="rId5"/>
    <p:sldId id="274" r:id="rId6"/>
    <p:sldId id="262" r:id="rId7"/>
    <p:sldId id="263" r:id="rId8"/>
    <p:sldId id="275" r:id="rId9"/>
    <p:sldId id="272" r:id="rId10"/>
    <p:sldId id="261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001A4B"/>
    <a:srgbClr val="000000"/>
    <a:srgbClr val="004282"/>
    <a:srgbClr val="33689B"/>
    <a:srgbClr val="006DB7"/>
    <a:srgbClr val="ED7F0D"/>
    <a:srgbClr val="006D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/>
    <p:restoredTop sz="94741"/>
  </p:normalViewPr>
  <p:slideViewPr>
    <p:cSldViewPr snapToGrid="0" snapToObjects="1">
      <p:cViewPr varScale="1">
        <p:scale>
          <a:sx n="130" d="100"/>
          <a:sy n="130" d="100"/>
        </p:scale>
        <p:origin x="20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788" y="-32870"/>
            <a:ext cx="9307943" cy="5235718"/>
          </a:xfrm>
          <a:prstGeom prst="rect">
            <a:avLst/>
          </a:prstGeom>
        </p:spPr>
      </p:pic>
      <p:sp>
        <p:nvSpPr>
          <p:cNvPr id="8" name="Trapezoid 15"/>
          <p:cNvSpPr/>
          <p:nvPr userDrawn="1"/>
        </p:nvSpPr>
        <p:spPr>
          <a:xfrm>
            <a:off x="-53789" y="1311970"/>
            <a:ext cx="5514846" cy="2641003"/>
          </a:xfrm>
          <a:custGeom>
            <a:avLst/>
            <a:gdLst>
              <a:gd name="connsiteX0" fmla="*/ 0 w 5424854"/>
              <a:gd name="connsiteY0" fmla="*/ 1018237 h 1018237"/>
              <a:gd name="connsiteX1" fmla="*/ 79127 w 5424854"/>
              <a:gd name="connsiteY1" fmla="*/ 0 h 1018237"/>
              <a:gd name="connsiteX2" fmla="*/ 5345727 w 5424854"/>
              <a:gd name="connsiteY2" fmla="*/ 0 h 1018237"/>
              <a:gd name="connsiteX3" fmla="*/ 5424854 w 5424854"/>
              <a:gd name="connsiteY3" fmla="*/ 1018237 h 1018237"/>
              <a:gd name="connsiteX4" fmla="*/ 0 w 5424854"/>
              <a:gd name="connsiteY4" fmla="*/ 1018237 h 1018237"/>
              <a:gd name="connsiteX0" fmla="*/ 4 w 5424858"/>
              <a:gd name="connsiteY0" fmla="*/ 1018237 h 1018237"/>
              <a:gd name="connsiteX1" fmla="*/ 0 w 5424858"/>
              <a:gd name="connsiteY1" fmla="*/ 8793 h 1018237"/>
              <a:gd name="connsiteX2" fmla="*/ 5345731 w 5424858"/>
              <a:gd name="connsiteY2" fmla="*/ 0 h 1018237"/>
              <a:gd name="connsiteX3" fmla="*/ 5424858 w 5424858"/>
              <a:gd name="connsiteY3" fmla="*/ 1018237 h 1018237"/>
              <a:gd name="connsiteX4" fmla="*/ 4 w 5424858"/>
              <a:gd name="connsiteY4" fmla="*/ 1018237 h 1018237"/>
              <a:gd name="connsiteX0" fmla="*/ 4 w 5433654"/>
              <a:gd name="connsiteY0" fmla="*/ 1009444 h 1009444"/>
              <a:gd name="connsiteX1" fmla="*/ 0 w 5433654"/>
              <a:gd name="connsiteY1" fmla="*/ 0 h 1009444"/>
              <a:gd name="connsiteX2" fmla="*/ 5433654 w 5433654"/>
              <a:gd name="connsiteY2" fmla="*/ 0 h 1009444"/>
              <a:gd name="connsiteX3" fmla="*/ 5424858 w 5433654"/>
              <a:gd name="connsiteY3" fmla="*/ 1009444 h 1009444"/>
              <a:gd name="connsiteX4" fmla="*/ 4 w 5433654"/>
              <a:gd name="connsiteY4" fmla="*/ 1009444 h 1009444"/>
              <a:gd name="connsiteX0" fmla="*/ 4 w 5433654"/>
              <a:gd name="connsiteY0" fmla="*/ 1009444 h 1018237"/>
              <a:gd name="connsiteX1" fmla="*/ 0 w 5433654"/>
              <a:gd name="connsiteY1" fmla="*/ 0 h 1018237"/>
              <a:gd name="connsiteX2" fmla="*/ 5433654 w 5433654"/>
              <a:gd name="connsiteY2" fmla="*/ 0 h 1018237"/>
              <a:gd name="connsiteX3" fmla="*/ 5363312 w 5433654"/>
              <a:gd name="connsiteY3" fmla="*/ 1018237 h 1018237"/>
              <a:gd name="connsiteX4" fmla="*/ 4 w 5433654"/>
              <a:gd name="connsiteY4" fmla="*/ 1009444 h 1018237"/>
              <a:gd name="connsiteX0" fmla="*/ 4 w 5540546"/>
              <a:gd name="connsiteY0" fmla="*/ 1009444 h 1018237"/>
              <a:gd name="connsiteX1" fmla="*/ 0 w 5540546"/>
              <a:gd name="connsiteY1" fmla="*/ 0 h 1018237"/>
              <a:gd name="connsiteX2" fmla="*/ 5540546 w 5540546"/>
              <a:gd name="connsiteY2" fmla="*/ 0 h 1018237"/>
              <a:gd name="connsiteX3" fmla="*/ 5363312 w 5540546"/>
              <a:gd name="connsiteY3" fmla="*/ 1018237 h 1018237"/>
              <a:gd name="connsiteX4" fmla="*/ 4 w 5540546"/>
              <a:gd name="connsiteY4" fmla="*/ 1009444 h 1018237"/>
              <a:gd name="connsiteX0" fmla="*/ 4 w 5540546"/>
              <a:gd name="connsiteY0" fmla="*/ 1009444 h 1269783"/>
              <a:gd name="connsiteX1" fmla="*/ 0 w 5540546"/>
              <a:gd name="connsiteY1" fmla="*/ 0 h 1269783"/>
              <a:gd name="connsiteX2" fmla="*/ 5540546 w 5540546"/>
              <a:gd name="connsiteY2" fmla="*/ 0 h 1269783"/>
              <a:gd name="connsiteX3" fmla="*/ 5318774 w 5540546"/>
              <a:gd name="connsiteY3" fmla="*/ 1269783 h 1269783"/>
              <a:gd name="connsiteX4" fmla="*/ 4 w 5540546"/>
              <a:gd name="connsiteY4" fmla="*/ 1009444 h 1269783"/>
              <a:gd name="connsiteX0" fmla="*/ 4 w 5540546"/>
              <a:gd name="connsiteY0" fmla="*/ 1260990 h 1269783"/>
              <a:gd name="connsiteX1" fmla="*/ 0 w 5540546"/>
              <a:gd name="connsiteY1" fmla="*/ 0 h 1269783"/>
              <a:gd name="connsiteX2" fmla="*/ 5540546 w 5540546"/>
              <a:gd name="connsiteY2" fmla="*/ 0 h 1269783"/>
              <a:gd name="connsiteX3" fmla="*/ 5318774 w 5540546"/>
              <a:gd name="connsiteY3" fmla="*/ 1269783 h 1269783"/>
              <a:gd name="connsiteX4" fmla="*/ 4 w 5540546"/>
              <a:gd name="connsiteY4" fmla="*/ 1260990 h 1269783"/>
              <a:gd name="connsiteX0" fmla="*/ 4 w 5540546"/>
              <a:gd name="connsiteY0" fmla="*/ 1260990 h 1269783"/>
              <a:gd name="connsiteX1" fmla="*/ 0 w 5540546"/>
              <a:gd name="connsiteY1" fmla="*/ 0 h 1269783"/>
              <a:gd name="connsiteX2" fmla="*/ 5540546 w 5540546"/>
              <a:gd name="connsiteY2" fmla="*/ 0 h 1269783"/>
              <a:gd name="connsiteX3" fmla="*/ 5380167 w 5540546"/>
              <a:gd name="connsiteY3" fmla="*/ 1269783 h 1269783"/>
              <a:gd name="connsiteX4" fmla="*/ 4 w 5540546"/>
              <a:gd name="connsiteY4" fmla="*/ 1260990 h 1269783"/>
              <a:gd name="connsiteX0" fmla="*/ 0 w 5595114"/>
              <a:gd name="connsiteY0" fmla="*/ 1260990 h 1269783"/>
              <a:gd name="connsiteX1" fmla="*/ 54568 w 5595114"/>
              <a:gd name="connsiteY1" fmla="*/ 0 h 1269783"/>
              <a:gd name="connsiteX2" fmla="*/ 5595114 w 5595114"/>
              <a:gd name="connsiteY2" fmla="*/ 0 h 1269783"/>
              <a:gd name="connsiteX3" fmla="*/ 5434735 w 5595114"/>
              <a:gd name="connsiteY3" fmla="*/ 1269783 h 1269783"/>
              <a:gd name="connsiteX4" fmla="*/ 0 w 5595114"/>
              <a:gd name="connsiteY4" fmla="*/ 1260990 h 1269783"/>
              <a:gd name="connsiteX0" fmla="*/ 3 w 5595117"/>
              <a:gd name="connsiteY0" fmla="*/ 1260990 h 1269783"/>
              <a:gd name="connsiteX1" fmla="*/ 0 w 5595117"/>
              <a:gd name="connsiteY1" fmla="*/ 3233 h 1269783"/>
              <a:gd name="connsiteX2" fmla="*/ 5595117 w 5595117"/>
              <a:gd name="connsiteY2" fmla="*/ 0 h 1269783"/>
              <a:gd name="connsiteX3" fmla="*/ 5434738 w 5595117"/>
              <a:gd name="connsiteY3" fmla="*/ 1269783 h 1269783"/>
              <a:gd name="connsiteX4" fmla="*/ 3 w 5595117"/>
              <a:gd name="connsiteY4" fmla="*/ 1260990 h 126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5117" h="1269783">
                <a:moveTo>
                  <a:pt x="3" y="1260990"/>
                </a:moveTo>
                <a:cubicBezTo>
                  <a:pt x="2" y="924509"/>
                  <a:pt x="1" y="339714"/>
                  <a:pt x="0" y="3233"/>
                </a:cubicBezTo>
                <a:lnTo>
                  <a:pt x="5595117" y="0"/>
                </a:lnTo>
                <a:lnTo>
                  <a:pt x="5434738" y="1269783"/>
                </a:lnTo>
                <a:lnTo>
                  <a:pt x="3" y="1260990"/>
                </a:lnTo>
                <a:close/>
              </a:path>
            </a:pathLst>
          </a:custGeom>
          <a:solidFill>
            <a:schemeClr val="bg2">
              <a:lumMod val="1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1627852"/>
            <a:ext cx="4832407" cy="1286772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2914624"/>
            <a:ext cx="4622426" cy="89761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68938" y="4767263"/>
            <a:ext cx="2057400" cy="273844"/>
          </a:xfrm>
        </p:spPr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Box 20"/>
          <p:cNvSpPr txBox="1">
            <a:spLocks noChangeArrowheads="1"/>
          </p:cNvSpPr>
          <p:nvPr userDrawn="1"/>
        </p:nvSpPr>
        <p:spPr bwMode="auto">
          <a:xfrm>
            <a:off x="212772" y="4939290"/>
            <a:ext cx="2175596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525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Copyright National University of Singapore.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320912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buFontTx/>
              <a:buBlip>
                <a:blip r:embed="rId2"/>
              </a:buBlip>
              <a:defRPr/>
            </a:lvl1pPr>
            <a:lvl2pPr marL="514350" indent="-171450">
              <a:buFontTx/>
              <a:buBlip>
                <a:blip r:embed="rId2"/>
              </a:buBlip>
              <a:defRPr/>
            </a:lvl2pPr>
            <a:lvl3pPr marL="857250" indent="-171450">
              <a:buFontTx/>
              <a:buBlip>
                <a:blip r:embed="rId2"/>
              </a:buBlip>
              <a:defRPr/>
            </a:lvl3pPr>
            <a:lvl4pPr marL="1200150" indent="-171450">
              <a:buFontTx/>
              <a:buBlip>
                <a:blip r:embed="rId2"/>
              </a:buBlip>
              <a:defRPr/>
            </a:lvl4pPr>
            <a:lvl5pPr marL="1543050" indent="-17145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865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93431" y="138479"/>
            <a:ext cx="8778476" cy="46821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849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93431" y="1268017"/>
            <a:ext cx="8778476" cy="35525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>
            <a:lvl1pPr marL="171450" indent="-171450">
              <a:buFontTx/>
              <a:buBlip>
                <a:blip r:embed="rId2"/>
              </a:buBlip>
              <a:defRPr/>
            </a:lvl1pPr>
            <a:lvl2pPr marL="514350" indent="-171450">
              <a:buFontTx/>
              <a:buBlip>
                <a:blip r:embed="rId2"/>
              </a:buBlip>
              <a:defRPr/>
            </a:lvl2pPr>
            <a:lvl3pPr marL="857250" indent="-171450">
              <a:buFontTx/>
              <a:buBlip>
                <a:blip r:embed="rId2"/>
              </a:buBlip>
              <a:defRPr/>
            </a:lvl3pPr>
            <a:lvl4pPr marL="1200150" indent="-171450">
              <a:buFontTx/>
              <a:buBlip>
                <a:blip r:embed="rId2"/>
              </a:buBlip>
              <a:defRPr/>
            </a:lvl4pPr>
            <a:lvl5pPr marL="1543050" indent="-17145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>
            <a:lvl1pPr marL="171450" indent="-171450">
              <a:buFontTx/>
              <a:buBlip>
                <a:blip r:embed="rId2"/>
              </a:buBlip>
              <a:defRPr/>
            </a:lvl1pPr>
            <a:lvl2pPr marL="514350" indent="-171450">
              <a:buFontTx/>
              <a:buBlip>
                <a:blip r:embed="rId2"/>
              </a:buBlip>
              <a:defRPr/>
            </a:lvl2pPr>
            <a:lvl3pPr marL="857250" indent="-171450">
              <a:buFontTx/>
              <a:buBlip>
                <a:blip r:embed="rId2"/>
              </a:buBlip>
              <a:defRPr/>
            </a:lvl3pPr>
            <a:lvl4pPr marL="1200150" indent="-171450">
              <a:buFontTx/>
              <a:buBlip>
                <a:blip r:embed="rId2"/>
              </a:buBlip>
              <a:defRPr/>
            </a:lvl4pPr>
            <a:lvl5pPr marL="1543050" indent="-17145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5074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193431" y="1268017"/>
            <a:ext cx="8778476" cy="35525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1" name="Rectangle 10"/>
          <p:cNvSpPr/>
          <p:nvPr userDrawn="1"/>
        </p:nvSpPr>
        <p:spPr>
          <a:xfrm>
            <a:off x="193432" y="1275161"/>
            <a:ext cx="4369777" cy="3552578"/>
          </a:xfrm>
          <a:prstGeom prst="rect">
            <a:avLst/>
          </a:prstGeom>
          <a:solidFill>
            <a:srgbClr val="336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>
            <a:lvl1pPr marL="171450" indent="-17145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514350" indent="-17145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857250" indent="-17145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200150" indent="-17145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1543050" indent="-17145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>
            <a:lvl1pPr marL="171450" indent="-171450">
              <a:buFontTx/>
              <a:buBlip>
                <a:blip r:embed="rId2"/>
              </a:buBlip>
              <a:defRPr/>
            </a:lvl1pPr>
            <a:lvl2pPr marL="514350" indent="-171450">
              <a:buFontTx/>
              <a:buBlip>
                <a:blip r:embed="rId2"/>
              </a:buBlip>
              <a:defRPr/>
            </a:lvl2pPr>
            <a:lvl3pPr marL="857250" indent="-171450">
              <a:buFontTx/>
              <a:buBlip>
                <a:blip r:embed="rId2"/>
              </a:buBlip>
              <a:defRPr/>
            </a:lvl3pPr>
            <a:lvl4pPr marL="1200150" indent="-171450">
              <a:buFontTx/>
              <a:buBlip>
                <a:blip r:embed="rId2"/>
              </a:buBlip>
              <a:defRPr/>
            </a:lvl4pPr>
            <a:lvl5pPr marL="1543050" indent="-17145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25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2965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3999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763108" y="164857"/>
            <a:ext cx="5208799" cy="4655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9" name="Rectangle 8"/>
          <p:cNvSpPr/>
          <p:nvPr userDrawn="1"/>
        </p:nvSpPr>
        <p:spPr>
          <a:xfrm>
            <a:off x="193432" y="164856"/>
            <a:ext cx="3569677" cy="4662883"/>
          </a:xfrm>
          <a:prstGeom prst="rect">
            <a:avLst/>
          </a:prstGeom>
          <a:solidFill>
            <a:srgbClr val="336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171450" indent="-171450">
              <a:buFontTx/>
              <a:buBlip>
                <a:blip r:embed="rId2"/>
              </a:buBlip>
              <a:defRPr sz="2400"/>
            </a:lvl1pPr>
            <a:lvl2pPr marL="514350" indent="-171450">
              <a:buFontTx/>
              <a:buBlip>
                <a:blip r:embed="rId2"/>
              </a:buBlip>
              <a:defRPr sz="2100"/>
            </a:lvl2pPr>
            <a:lvl3pPr marL="857250" indent="-171450">
              <a:buFontTx/>
              <a:buBlip>
                <a:blip r:embed="rId2"/>
              </a:buBlip>
              <a:defRPr sz="1800"/>
            </a:lvl3pPr>
            <a:lvl4pPr marL="1200150" indent="-171450">
              <a:buFontTx/>
              <a:buBlip>
                <a:blip r:embed="rId2"/>
              </a:buBlip>
              <a:defRPr sz="1500"/>
            </a:lvl4pPr>
            <a:lvl5pPr marL="1543050" indent="-171450">
              <a:buFontTx/>
              <a:buBlip>
                <a:blip r:embed="rId2"/>
              </a:buBlip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081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763108" y="164857"/>
            <a:ext cx="5208799" cy="4655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9" name="Rectangle 8"/>
          <p:cNvSpPr/>
          <p:nvPr userDrawn="1"/>
        </p:nvSpPr>
        <p:spPr>
          <a:xfrm>
            <a:off x="193432" y="164856"/>
            <a:ext cx="3569677" cy="4662883"/>
          </a:xfrm>
          <a:prstGeom prst="rect">
            <a:avLst/>
          </a:prstGeom>
          <a:solidFill>
            <a:srgbClr val="336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45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171450" indent="-171450">
              <a:buFontTx/>
              <a:buBlip>
                <a:blip r:embed="rId2"/>
              </a:buBlip>
              <a:defRPr/>
            </a:lvl1pPr>
            <a:lvl2pPr marL="514350" indent="-171450">
              <a:buFontTx/>
              <a:buBlip>
                <a:blip r:embed="rId2"/>
              </a:buBlip>
              <a:defRPr/>
            </a:lvl2pPr>
            <a:lvl3pPr marL="857250" indent="-171450">
              <a:buFontTx/>
              <a:buBlip>
                <a:blip r:embed="rId2"/>
              </a:buBlip>
              <a:defRPr/>
            </a:lvl3pPr>
            <a:lvl4pPr marL="1200150" indent="-171450">
              <a:buFontTx/>
              <a:buBlip>
                <a:blip r:embed="rId2"/>
              </a:buBlip>
              <a:defRPr/>
            </a:lvl4pPr>
            <a:lvl5pPr marL="1543050" indent="-17145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923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396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93431" y="1268017"/>
            <a:ext cx="8778476" cy="35525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214338" cy="1268017"/>
          </a:xfrm>
          <a:prstGeom prst="rect">
            <a:avLst/>
          </a:prstGeom>
          <a:solidFill>
            <a:srgbClr val="336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14507" y="4820594"/>
            <a:ext cx="2057400" cy="273844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976380"/>
          </a:xfrm>
        </p:spPr>
        <p:txBody>
          <a:bodyPr/>
          <a:lstStyle>
            <a:lvl1pPr marL="171450" indent="-171450">
              <a:buFontTx/>
              <a:buBlip>
                <a:blip r:embed="rId2"/>
              </a:buBlip>
              <a:defRPr/>
            </a:lvl1pPr>
            <a:lvl2pPr marL="514350" indent="-171450">
              <a:buFontTx/>
              <a:buBlip>
                <a:blip r:embed="rId2"/>
              </a:buBlip>
              <a:defRPr/>
            </a:lvl2pPr>
            <a:lvl3pPr marL="857250" indent="-171450">
              <a:buFontTx/>
              <a:buBlip>
                <a:blip r:embed="rId2"/>
              </a:buBlip>
              <a:defRPr/>
            </a:lvl3pPr>
            <a:lvl4pPr marL="1200150" indent="-171450">
              <a:buFontTx/>
              <a:buBlip>
                <a:blip r:embed="rId2"/>
              </a:buBlip>
              <a:defRPr/>
            </a:lvl4pPr>
            <a:lvl5pPr marL="1543050" indent="-17145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8199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00428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4507" y="4820594"/>
            <a:ext cx="2057400" cy="273844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976380"/>
          </a:xfrm>
        </p:spPr>
        <p:txBody>
          <a:bodyPr/>
          <a:lstStyle>
            <a:lvl1pPr marL="171450" indent="-171450">
              <a:buFontTx/>
              <a:buBlip>
                <a:blip r:embed="rId2"/>
              </a:buBlip>
              <a:defRPr/>
            </a:lvl1pPr>
            <a:lvl2pPr marL="514350" indent="-171450">
              <a:buFontTx/>
              <a:buBlip>
                <a:blip r:embed="rId2"/>
              </a:buBlip>
              <a:defRPr/>
            </a:lvl2pPr>
            <a:lvl3pPr marL="857250" indent="-171450">
              <a:buFontTx/>
              <a:buBlip>
                <a:blip r:embed="rId2"/>
              </a:buBlip>
              <a:defRPr/>
            </a:lvl3pPr>
            <a:lvl4pPr marL="1200150" indent="-171450">
              <a:buFontTx/>
              <a:buBlip>
                <a:blip r:embed="rId2"/>
              </a:buBlip>
              <a:defRPr/>
            </a:lvl4pPr>
            <a:lvl5pPr marL="1543050" indent="-17145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C2E482B0-A764-7649-BFD8-7624B53F13A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Box 20"/>
          <p:cNvSpPr txBox="1">
            <a:spLocks noChangeArrowheads="1"/>
          </p:cNvSpPr>
          <p:nvPr userDrawn="1"/>
        </p:nvSpPr>
        <p:spPr bwMode="auto">
          <a:xfrm>
            <a:off x="555672" y="4877388"/>
            <a:ext cx="2175596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525" dirty="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</a:rPr>
              <a:t>© Copyright National University of Singapore.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62356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6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rgbClr val="004282"/>
          </a:solidFill>
          <a:latin typeface="Arial" charset="0"/>
          <a:ea typeface="Arial" charset="0"/>
          <a:cs typeface="Arial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rgbClr val="004282"/>
          </a:solidFill>
          <a:latin typeface="Arial" charset="0"/>
          <a:ea typeface="Arial" charset="0"/>
          <a:cs typeface="Arial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004282"/>
          </a:solidFill>
          <a:latin typeface="Arial" charset="0"/>
          <a:ea typeface="Arial" charset="0"/>
          <a:cs typeface="Arial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rgbClr val="004282"/>
          </a:solidFill>
          <a:latin typeface="Arial" charset="0"/>
          <a:ea typeface="Arial" charset="0"/>
          <a:cs typeface="Arial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004282"/>
          </a:solidFill>
          <a:latin typeface="Arial" charset="0"/>
          <a:ea typeface="Arial" charset="0"/>
          <a:cs typeface="Arial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004282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959" y="1538290"/>
            <a:ext cx="4657760" cy="1188201"/>
          </a:xfrm>
        </p:spPr>
        <p:txBody>
          <a:bodyPr anchor="t">
            <a:normAutofit/>
          </a:bodyPr>
          <a:lstStyle/>
          <a:p>
            <a:r>
              <a:rPr lang="en-GB" sz="3300" dirty="0"/>
              <a:t>CG3201 Lab 1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0276" y="2608445"/>
            <a:ext cx="4627861" cy="1241822"/>
          </a:xfrm>
        </p:spPr>
        <p:txBody>
          <a:bodyPr>
            <a:normAutofit/>
          </a:bodyPr>
          <a:lstStyle/>
          <a:p>
            <a:r>
              <a:rPr lang="en-US" altLang="en-US" sz="1600" dirty="0"/>
              <a:t>&lt;</a:t>
            </a:r>
            <a:r>
              <a:rPr lang="en-US" altLang="en-US" sz="1600" dirty="0" err="1"/>
              <a:t>TA_name</a:t>
            </a:r>
            <a:r>
              <a:rPr lang="en-US" altLang="en-US" sz="1600" dirty="0"/>
              <a:t>&gt;</a:t>
            </a:r>
            <a:endParaRPr lang="en-GB" sz="1600" dirty="0"/>
          </a:p>
        </p:txBody>
      </p:sp>
      <p:sp>
        <p:nvSpPr>
          <p:cNvPr id="4" name="Rectangle 3"/>
          <p:cNvSpPr/>
          <p:nvPr/>
        </p:nvSpPr>
        <p:spPr>
          <a:xfrm>
            <a:off x="316857" y="1615588"/>
            <a:ext cx="45720" cy="837467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Support Vector Machine (SVM)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565190"/>
            <a:ext cx="36576" cy="41148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86639D-B5A6-4148-3AAF-D5DD485AD0E2}"/>
              </a:ext>
            </a:extLst>
          </p:cNvPr>
          <p:cNvGrpSpPr/>
          <p:nvPr/>
        </p:nvGrpSpPr>
        <p:grpSpPr>
          <a:xfrm>
            <a:off x="407552" y="1595227"/>
            <a:ext cx="3665856" cy="2950372"/>
            <a:chOff x="0" y="170570"/>
            <a:chExt cx="3666226" cy="295099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6359578-F263-B9F5-238E-735C1E1BA6C5}"/>
                </a:ext>
              </a:extLst>
            </p:cNvPr>
            <p:cNvCxnSpPr/>
            <p:nvPr/>
          </p:nvCxnSpPr>
          <p:spPr>
            <a:xfrm>
              <a:off x="327804" y="2775550"/>
              <a:ext cx="3226279" cy="470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20">
                  <a:extLst>
                    <a:ext uri="{FF2B5EF4-FFF2-40B4-BE49-F238E27FC236}">
                      <a16:creationId xmlns:a16="http://schemas.microsoft.com/office/drawing/2014/main" id="{F58C23E5-5291-2275-D0C7-EFB11348AFD5}"/>
                    </a:ext>
                  </a:extLst>
                </p:cNvPr>
                <p:cNvSpPr txBox="1"/>
                <p:nvPr/>
              </p:nvSpPr>
              <p:spPr>
                <a:xfrm>
                  <a:off x="3338422" y="2828267"/>
                  <a:ext cx="327804" cy="29329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SG" sz="12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 Box 20">
                  <a:extLst>
                    <a:ext uri="{FF2B5EF4-FFF2-40B4-BE49-F238E27FC236}">
                      <a16:creationId xmlns:a16="http://schemas.microsoft.com/office/drawing/2014/main" id="{F58C23E5-5291-2275-D0C7-EFB11348A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8422" y="2828267"/>
                  <a:ext cx="327804" cy="2932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BE98D31-1633-A6FB-E752-20091B8C8F21}"/>
                </a:ext>
              </a:extLst>
            </p:cNvPr>
            <p:cNvGrpSpPr/>
            <p:nvPr/>
          </p:nvGrpSpPr>
          <p:grpSpPr>
            <a:xfrm>
              <a:off x="0" y="170570"/>
              <a:ext cx="2725946" cy="2608125"/>
              <a:chOff x="0" y="170570"/>
              <a:chExt cx="2725946" cy="2608125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74C4405-62B7-ECDE-A0E5-0F30927F7AB1}"/>
                  </a:ext>
                </a:extLst>
              </p:cNvPr>
              <p:cNvSpPr/>
              <p:nvPr/>
            </p:nvSpPr>
            <p:spPr>
              <a:xfrm>
                <a:off x="1155939" y="1594689"/>
                <a:ext cx="94890" cy="94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D4D58DD-E01D-5161-4884-E0416628F2B4}"/>
                  </a:ext>
                </a:extLst>
              </p:cNvPr>
              <p:cNvSpPr/>
              <p:nvPr/>
            </p:nvSpPr>
            <p:spPr>
              <a:xfrm>
                <a:off x="1250830" y="1465293"/>
                <a:ext cx="94890" cy="94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22C93FE-B5B8-FB4E-E41C-BD7545525FE3}"/>
                  </a:ext>
                </a:extLst>
              </p:cNvPr>
              <p:cNvSpPr/>
              <p:nvPr/>
            </p:nvSpPr>
            <p:spPr>
              <a:xfrm>
                <a:off x="1958196" y="1836229"/>
                <a:ext cx="94890" cy="9489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94AA918-E5B9-920D-B0E7-D4AE46DD22E9}"/>
                  </a:ext>
                </a:extLst>
              </p:cNvPr>
              <p:cNvGrpSpPr/>
              <p:nvPr/>
            </p:nvGrpSpPr>
            <p:grpSpPr>
              <a:xfrm>
                <a:off x="0" y="170570"/>
                <a:ext cx="2725946" cy="2608125"/>
                <a:chOff x="0" y="170570"/>
                <a:chExt cx="2725946" cy="2608125"/>
              </a:xfrm>
            </p:grpSpPr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32200EAB-2EDE-3A25-B997-87C8637EDEC2}"/>
                    </a:ext>
                  </a:extLst>
                </p:cNvPr>
                <p:cNvCxnSpPr/>
                <p:nvPr/>
              </p:nvCxnSpPr>
              <p:spPr>
                <a:xfrm flipV="1">
                  <a:off x="330919" y="247728"/>
                  <a:ext cx="432" cy="2530967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310B79F-E508-0DD0-2C94-A0D66A1344A6}"/>
                    </a:ext>
                  </a:extLst>
                </p:cNvPr>
                <p:cNvSpPr/>
                <p:nvPr/>
              </p:nvSpPr>
              <p:spPr>
                <a:xfrm>
                  <a:off x="733245" y="1222992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D72F8DBD-45A8-25A2-2C11-2C20DE971B3A}"/>
                    </a:ext>
                  </a:extLst>
                </p:cNvPr>
                <p:cNvSpPr/>
                <p:nvPr/>
              </p:nvSpPr>
              <p:spPr>
                <a:xfrm>
                  <a:off x="1233577" y="1257498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A1CAABED-B394-2F3B-70CC-33E82C177B6A}"/>
                    </a:ext>
                  </a:extLst>
                </p:cNvPr>
                <p:cNvSpPr/>
                <p:nvPr/>
              </p:nvSpPr>
              <p:spPr>
                <a:xfrm>
                  <a:off x="810883" y="1662939"/>
                  <a:ext cx="94615" cy="94615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82B3ED51-B7BD-B653-44A5-F1C490BD795E}"/>
                    </a:ext>
                  </a:extLst>
                </p:cNvPr>
                <p:cNvSpPr/>
                <p:nvPr/>
              </p:nvSpPr>
              <p:spPr>
                <a:xfrm>
                  <a:off x="1000664" y="1447279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C11812F3-D89B-6222-80FC-1133A4F8596B}"/>
                    </a:ext>
                  </a:extLst>
                </p:cNvPr>
                <p:cNvSpPr/>
                <p:nvPr/>
              </p:nvSpPr>
              <p:spPr>
                <a:xfrm>
                  <a:off x="586596" y="1455906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956A9081-685C-13C1-B0D3-453663A4915F}"/>
                    </a:ext>
                  </a:extLst>
                </p:cNvPr>
                <p:cNvSpPr/>
                <p:nvPr/>
              </p:nvSpPr>
              <p:spPr>
                <a:xfrm>
                  <a:off x="1958196" y="2059755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FEB30A5-7AEA-96D4-448F-1104ED910132}"/>
                    </a:ext>
                  </a:extLst>
                </p:cNvPr>
                <p:cNvSpPr/>
                <p:nvPr/>
              </p:nvSpPr>
              <p:spPr>
                <a:xfrm>
                  <a:off x="2286000" y="1757830"/>
                  <a:ext cx="94615" cy="94615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F3258FE-7BBD-6E79-AAEA-75A22A827AFB}"/>
                    </a:ext>
                  </a:extLst>
                </p:cNvPr>
                <p:cNvSpPr/>
                <p:nvPr/>
              </p:nvSpPr>
              <p:spPr>
                <a:xfrm>
                  <a:off x="2286000" y="1964864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851AA563-F2E9-3700-A8FA-6038497F71E9}"/>
                    </a:ext>
                  </a:extLst>
                </p:cNvPr>
                <p:cNvSpPr/>
                <p:nvPr/>
              </p:nvSpPr>
              <p:spPr>
                <a:xfrm>
                  <a:off x="2441275" y="2120139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ADAB8ACD-08D0-6E92-11EA-BCB435FCFFF0}"/>
                    </a:ext>
                  </a:extLst>
                </p:cNvPr>
                <p:cNvSpPr/>
                <p:nvPr/>
              </p:nvSpPr>
              <p:spPr>
                <a:xfrm>
                  <a:off x="2216988" y="2309921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 Box 19">
                      <a:extLst>
                        <a:ext uri="{FF2B5EF4-FFF2-40B4-BE49-F238E27FC236}">
                          <a16:creationId xmlns:a16="http://schemas.microsoft.com/office/drawing/2014/main" id="{854D950E-D7B5-EEDB-BEB5-A4CD544F32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170570"/>
                      <a:ext cx="327660" cy="29273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SG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Text Box 19">
                      <a:extLst>
                        <a:ext uri="{FF2B5EF4-FFF2-40B4-BE49-F238E27FC236}">
                          <a16:creationId xmlns:a16="http://schemas.microsoft.com/office/drawing/2014/main" id="{854D950E-D7B5-EEDB-BEB5-A4CD544F326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170570"/>
                      <a:ext cx="327660" cy="29273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 w="63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EB3C3880-153E-21BF-A0AE-523025030E42}"/>
                    </a:ext>
                  </a:extLst>
                </p:cNvPr>
                <p:cNvCxnSpPr/>
                <p:nvPr/>
              </p:nvCxnSpPr>
              <p:spPr>
                <a:xfrm flipH="1">
                  <a:off x="1000664" y="576011"/>
                  <a:ext cx="1595755" cy="192155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ECD770D4-753C-E740-33E6-AE63CE897620}"/>
                    </a:ext>
                  </a:extLst>
                </p:cNvPr>
                <p:cNvSpPr/>
                <p:nvPr/>
              </p:nvSpPr>
              <p:spPr>
                <a:xfrm>
                  <a:off x="1000664" y="1197113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BB95EC70-7F8D-0A47-CBAC-0BA903515897}"/>
                    </a:ext>
                  </a:extLst>
                </p:cNvPr>
                <p:cNvSpPr/>
                <p:nvPr/>
              </p:nvSpPr>
              <p:spPr>
                <a:xfrm>
                  <a:off x="810883" y="1455906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7A9B11BD-9BBB-813F-AAFD-17D8B4DA234B}"/>
                    </a:ext>
                  </a:extLst>
                </p:cNvPr>
                <p:cNvSpPr/>
                <p:nvPr/>
              </p:nvSpPr>
              <p:spPr>
                <a:xfrm>
                  <a:off x="2191109" y="2128766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C5E64A18-3668-42FC-0551-46B16A038F12}"/>
                    </a:ext>
                  </a:extLst>
                </p:cNvPr>
                <p:cNvSpPr/>
                <p:nvPr/>
              </p:nvSpPr>
              <p:spPr>
                <a:xfrm>
                  <a:off x="2536166" y="1844094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EB2CF2EE-0F30-DE81-FEFC-1722B58BA7E6}"/>
                    </a:ext>
                  </a:extLst>
                </p:cNvPr>
                <p:cNvSpPr/>
                <p:nvPr/>
              </p:nvSpPr>
              <p:spPr>
                <a:xfrm>
                  <a:off x="1863305" y="2249536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B9A04D68-6CF0-F4AC-83D2-64D92BEE2928}"/>
                    </a:ext>
                  </a:extLst>
                </p:cNvPr>
                <p:cNvSpPr/>
                <p:nvPr/>
              </p:nvSpPr>
              <p:spPr>
                <a:xfrm>
                  <a:off x="2631056" y="2077007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 Box 34">
                      <a:extLst>
                        <a:ext uri="{FF2B5EF4-FFF2-40B4-BE49-F238E27FC236}">
                          <a16:creationId xmlns:a16="http://schemas.microsoft.com/office/drawing/2014/main" id="{48B7C41F-EE9B-97FC-DE02-513918009006}"/>
                        </a:ext>
                      </a:extLst>
                    </p:cNvPr>
                    <p:cNvSpPr txBox="1"/>
                    <p:nvPr/>
                  </p:nvSpPr>
                  <p:spPr>
                    <a:xfrm rot="18561106">
                      <a:off x="1524677" y="836763"/>
                      <a:ext cx="1207135" cy="29273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lang="en-US" sz="12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sz="12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sz="12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0" name="Text Box 34">
                      <a:extLst>
                        <a:ext uri="{FF2B5EF4-FFF2-40B4-BE49-F238E27FC236}">
                          <a16:creationId xmlns:a16="http://schemas.microsoft.com/office/drawing/2014/main" id="{48B7C41F-EE9B-97FC-DE02-5139180090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8561106">
                      <a:off x="1524677" y="836763"/>
                      <a:ext cx="1207135" cy="29273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63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A36B7D4-7D01-AF81-8392-9DF29CFB3FE1}"/>
              </a:ext>
            </a:extLst>
          </p:cNvPr>
          <p:cNvGrpSpPr/>
          <p:nvPr/>
        </p:nvGrpSpPr>
        <p:grpSpPr>
          <a:xfrm>
            <a:off x="4986622" y="1591295"/>
            <a:ext cx="3665856" cy="2950371"/>
            <a:chOff x="0" y="170570"/>
            <a:chExt cx="3666226" cy="2950995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205BB37-33DD-C7C9-333B-5C8802826425}"/>
                </a:ext>
              </a:extLst>
            </p:cNvPr>
            <p:cNvCxnSpPr/>
            <p:nvPr/>
          </p:nvCxnSpPr>
          <p:spPr>
            <a:xfrm>
              <a:off x="327804" y="2775550"/>
              <a:ext cx="3226279" cy="470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 Box 20">
                  <a:extLst>
                    <a:ext uri="{FF2B5EF4-FFF2-40B4-BE49-F238E27FC236}">
                      <a16:creationId xmlns:a16="http://schemas.microsoft.com/office/drawing/2014/main" id="{BE0D128D-B41C-D525-382E-C43E2912EFF6}"/>
                    </a:ext>
                  </a:extLst>
                </p:cNvPr>
                <p:cNvSpPr txBox="1"/>
                <p:nvPr/>
              </p:nvSpPr>
              <p:spPr>
                <a:xfrm>
                  <a:off x="3338422" y="2828267"/>
                  <a:ext cx="327804" cy="29329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SG" sz="12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 Box 20">
                  <a:extLst>
                    <a:ext uri="{FF2B5EF4-FFF2-40B4-BE49-F238E27FC236}">
                      <a16:creationId xmlns:a16="http://schemas.microsoft.com/office/drawing/2014/main" id="{F58C23E5-5291-2275-D0C7-EFB11348A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8422" y="2828267"/>
                  <a:ext cx="327804" cy="2932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E8D148F-6656-922A-CFEF-A06E52D9920C}"/>
                </a:ext>
              </a:extLst>
            </p:cNvPr>
            <p:cNvGrpSpPr/>
            <p:nvPr/>
          </p:nvGrpSpPr>
          <p:grpSpPr>
            <a:xfrm>
              <a:off x="0" y="170570"/>
              <a:ext cx="2725946" cy="2608125"/>
              <a:chOff x="0" y="170570"/>
              <a:chExt cx="2725946" cy="2608125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7D96600-6769-D75D-630F-FC709C543DC1}"/>
                  </a:ext>
                </a:extLst>
              </p:cNvPr>
              <p:cNvSpPr/>
              <p:nvPr/>
            </p:nvSpPr>
            <p:spPr>
              <a:xfrm>
                <a:off x="1155939" y="1594689"/>
                <a:ext cx="94890" cy="94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9E4DACC-4361-89E4-E3AD-13D90F97019E}"/>
                  </a:ext>
                </a:extLst>
              </p:cNvPr>
              <p:cNvSpPr/>
              <p:nvPr/>
            </p:nvSpPr>
            <p:spPr>
              <a:xfrm>
                <a:off x="1250830" y="1465293"/>
                <a:ext cx="94890" cy="94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7B60C8D-3442-73D8-8783-3F46B61F62C7}"/>
                  </a:ext>
                </a:extLst>
              </p:cNvPr>
              <p:cNvSpPr/>
              <p:nvPr/>
            </p:nvSpPr>
            <p:spPr>
              <a:xfrm>
                <a:off x="1958196" y="1836229"/>
                <a:ext cx="94890" cy="9489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E5251569-FF38-4183-26E2-0F6179C7C406}"/>
                  </a:ext>
                </a:extLst>
              </p:cNvPr>
              <p:cNvGrpSpPr/>
              <p:nvPr/>
            </p:nvGrpSpPr>
            <p:grpSpPr>
              <a:xfrm>
                <a:off x="0" y="170570"/>
                <a:ext cx="2725946" cy="2608125"/>
                <a:chOff x="0" y="170570"/>
                <a:chExt cx="2725946" cy="2608125"/>
              </a:xfrm>
            </p:grpSpPr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11AFB95D-BAE9-7016-45CB-57872CEA61C7}"/>
                    </a:ext>
                  </a:extLst>
                </p:cNvPr>
                <p:cNvCxnSpPr/>
                <p:nvPr/>
              </p:nvCxnSpPr>
              <p:spPr>
                <a:xfrm flipV="1">
                  <a:off x="330919" y="247728"/>
                  <a:ext cx="432" cy="2530967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5389A17-F4CC-FA32-B799-A11378867BA8}"/>
                    </a:ext>
                  </a:extLst>
                </p:cNvPr>
                <p:cNvSpPr/>
                <p:nvPr/>
              </p:nvSpPr>
              <p:spPr>
                <a:xfrm>
                  <a:off x="733245" y="1222992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939CE53F-0200-06AC-0930-27F24188B37B}"/>
                    </a:ext>
                  </a:extLst>
                </p:cNvPr>
                <p:cNvSpPr/>
                <p:nvPr/>
              </p:nvSpPr>
              <p:spPr>
                <a:xfrm>
                  <a:off x="1233577" y="1257498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F75305B9-2178-2CD6-F6E0-CEA73162697E}"/>
                    </a:ext>
                  </a:extLst>
                </p:cNvPr>
                <p:cNvSpPr/>
                <p:nvPr/>
              </p:nvSpPr>
              <p:spPr>
                <a:xfrm>
                  <a:off x="810883" y="1662939"/>
                  <a:ext cx="94615" cy="94615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E5945C4A-AA35-4B12-9DA6-3C7E09DC1DAD}"/>
                    </a:ext>
                  </a:extLst>
                </p:cNvPr>
                <p:cNvSpPr/>
                <p:nvPr/>
              </p:nvSpPr>
              <p:spPr>
                <a:xfrm>
                  <a:off x="1000664" y="1447279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B3C126CB-B16B-9FB1-0820-E91712C42D06}"/>
                    </a:ext>
                  </a:extLst>
                </p:cNvPr>
                <p:cNvSpPr/>
                <p:nvPr/>
              </p:nvSpPr>
              <p:spPr>
                <a:xfrm>
                  <a:off x="586596" y="1455906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5391E435-3245-7BEC-35ED-25FB535E147F}"/>
                    </a:ext>
                  </a:extLst>
                </p:cNvPr>
                <p:cNvSpPr/>
                <p:nvPr/>
              </p:nvSpPr>
              <p:spPr>
                <a:xfrm>
                  <a:off x="1958196" y="2059755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0C1CFAF5-2E1E-D188-DD6F-C07138E56BC0}"/>
                    </a:ext>
                  </a:extLst>
                </p:cNvPr>
                <p:cNvSpPr/>
                <p:nvPr/>
              </p:nvSpPr>
              <p:spPr>
                <a:xfrm>
                  <a:off x="2286000" y="1757830"/>
                  <a:ext cx="94615" cy="94615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4F159822-AFC5-93A3-1F97-2766071408EE}"/>
                    </a:ext>
                  </a:extLst>
                </p:cNvPr>
                <p:cNvSpPr/>
                <p:nvPr/>
              </p:nvSpPr>
              <p:spPr>
                <a:xfrm>
                  <a:off x="2286000" y="1964864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BED884DB-D35E-6996-9B1C-ABAF2B34CDAF}"/>
                    </a:ext>
                  </a:extLst>
                </p:cNvPr>
                <p:cNvSpPr/>
                <p:nvPr/>
              </p:nvSpPr>
              <p:spPr>
                <a:xfrm>
                  <a:off x="2441275" y="2120139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1EEF7ACB-8AB0-90E0-5655-D9EC654291B2}"/>
                    </a:ext>
                  </a:extLst>
                </p:cNvPr>
                <p:cNvSpPr/>
                <p:nvPr/>
              </p:nvSpPr>
              <p:spPr>
                <a:xfrm>
                  <a:off x="2216988" y="2309921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Text Box 19">
                      <a:extLst>
                        <a:ext uri="{FF2B5EF4-FFF2-40B4-BE49-F238E27FC236}">
                          <a16:creationId xmlns:a16="http://schemas.microsoft.com/office/drawing/2014/main" id="{F38DF7F0-E1E7-56D5-CCB1-1EBAB79CE3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170570"/>
                      <a:ext cx="327660" cy="29273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SG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Text Box 19">
                      <a:extLst>
                        <a:ext uri="{FF2B5EF4-FFF2-40B4-BE49-F238E27FC236}">
                          <a16:creationId xmlns:a16="http://schemas.microsoft.com/office/drawing/2014/main" id="{854D950E-D7B5-EEDB-BEB5-A4CD544F326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170570"/>
                      <a:ext cx="327660" cy="29273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 w="63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DCCB08F0-797B-D22A-C3E6-7C9959AC72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67539" y="626858"/>
                  <a:ext cx="373414" cy="198555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72FC196E-0CC8-CA5C-2F20-F6E400E90182}"/>
                    </a:ext>
                  </a:extLst>
                </p:cNvPr>
                <p:cNvSpPr/>
                <p:nvPr/>
              </p:nvSpPr>
              <p:spPr>
                <a:xfrm>
                  <a:off x="1000664" y="1197113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3DF8FA6B-4C63-7447-30B6-B1756A9DFD59}"/>
                    </a:ext>
                  </a:extLst>
                </p:cNvPr>
                <p:cNvSpPr/>
                <p:nvPr/>
              </p:nvSpPr>
              <p:spPr>
                <a:xfrm>
                  <a:off x="810883" y="1455906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80385F7A-9D43-160E-A384-A7D5798D83FC}"/>
                    </a:ext>
                  </a:extLst>
                </p:cNvPr>
                <p:cNvSpPr/>
                <p:nvPr/>
              </p:nvSpPr>
              <p:spPr>
                <a:xfrm>
                  <a:off x="2191109" y="2128766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65726049-D6AA-149B-E129-5BE4226E99FE}"/>
                    </a:ext>
                  </a:extLst>
                </p:cNvPr>
                <p:cNvSpPr/>
                <p:nvPr/>
              </p:nvSpPr>
              <p:spPr>
                <a:xfrm>
                  <a:off x="2536166" y="1844094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C7FD2755-279F-A21F-FF48-EFD7ABA9CB9D}"/>
                    </a:ext>
                  </a:extLst>
                </p:cNvPr>
                <p:cNvSpPr/>
                <p:nvPr/>
              </p:nvSpPr>
              <p:spPr>
                <a:xfrm>
                  <a:off x="1863305" y="2249536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BA087E60-94D2-B411-8497-CABC904FC255}"/>
                    </a:ext>
                  </a:extLst>
                </p:cNvPr>
                <p:cNvSpPr/>
                <p:nvPr/>
              </p:nvSpPr>
              <p:spPr>
                <a:xfrm>
                  <a:off x="2631056" y="2077007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Text Box 34">
                      <a:extLst>
                        <a:ext uri="{FF2B5EF4-FFF2-40B4-BE49-F238E27FC236}">
                          <a16:creationId xmlns:a16="http://schemas.microsoft.com/office/drawing/2014/main" id="{A642595C-691B-EE5C-DCB3-C595DEB99C29}"/>
                        </a:ext>
                      </a:extLst>
                    </p:cNvPr>
                    <p:cNvSpPr txBox="1"/>
                    <p:nvPr/>
                  </p:nvSpPr>
                  <p:spPr>
                    <a:xfrm rot="4723249">
                      <a:off x="1008584" y="1294995"/>
                      <a:ext cx="1207135" cy="29273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lang="en-US" sz="12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sz="12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sz="12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Text Box 34">
                      <a:extLst>
                        <a:ext uri="{FF2B5EF4-FFF2-40B4-BE49-F238E27FC236}">
                          <a16:creationId xmlns:a16="http://schemas.microsoft.com/office/drawing/2014/main" id="{A642595C-691B-EE5C-DCB3-C595DEB99C2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4723249">
                      <a:off x="1008584" y="1294995"/>
                      <a:ext cx="1207135" cy="29273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63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</p:spTree>
    <p:extLst>
      <p:ext uri="{BB962C8B-B14F-4D97-AF65-F5344CB8AC3E}">
        <p14:creationId xmlns:p14="http://schemas.microsoft.com/office/powerpoint/2010/main" val="3505839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Support Vector Machine (SVM)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565190"/>
            <a:ext cx="36576" cy="41148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86639D-B5A6-4148-3AAF-D5DD485AD0E2}"/>
              </a:ext>
            </a:extLst>
          </p:cNvPr>
          <p:cNvGrpSpPr/>
          <p:nvPr/>
        </p:nvGrpSpPr>
        <p:grpSpPr>
          <a:xfrm>
            <a:off x="407552" y="1595227"/>
            <a:ext cx="3665856" cy="2950372"/>
            <a:chOff x="0" y="170570"/>
            <a:chExt cx="3666226" cy="295099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6359578-F263-B9F5-238E-735C1E1BA6C5}"/>
                </a:ext>
              </a:extLst>
            </p:cNvPr>
            <p:cNvCxnSpPr/>
            <p:nvPr/>
          </p:nvCxnSpPr>
          <p:spPr>
            <a:xfrm>
              <a:off x="327804" y="2775550"/>
              <a:ext cx="3226279" cy="470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20">
                  <a:extLst>
                    <a:ext uri="{FF2B5EF4-FFF2-40B4-BE49-F238E27FC236}">
                      <a16:creationId xmlns:a16="http://schemas.microsoft.com/office/drawing/2014/main" id="{F58C23E5-5291-2275-D0C7-EFB11348AFD5}"/>
                    </a:ext>
                  </a:extLst>
                </p:cNvPr>
                <p:cNvSpPr txBox="1"/>
                <p:nvPr/>
              </p:nvSpPr>
              <p:spPr>
                <a:xfrm>
                  <a:off x="3338422" y="2828267"/>
                  <a:ext cx="327804" cy="29329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SG" sz="12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 Box 20">
                  <a:extLst>
                    <a:ext uri="{FF2B5EF4-FFF2-40B4-BE49-F238E27FC236}">
                      <a16:creationId xmlns:a16="http://schemas.microsoft.com/office/drawing/2014/main" id="{F58C23E5-5291-2275-D0C7-EFB11348A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8422" y="2828267"/>
                  <a:ext cx="327804" cy="2932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BE98D31-1633-A6FB-E752-20091B8C8F21}"/>
                </a:ext>
              </a:extLst>
            </p:cNvPr>
            <p:cNvGrpSpPr/>
            <p:nvPr/>
          </p:nvGrpSpPr>
          <p:grpSpPr>
            <a:xfrm>
              <a:off x="0" y="170570"/>
              <a:ext cx="2985878" cy="2608125"/>
              <a:chOff x="0" y="170570"/>
              <a:chExt cx="2985878" cy="2608125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F1FE343-F834-5930-E973-15E099BA4208}"/>
                  </a:ext>
                </a:extLst>
              </p:cNvPr>
              <p:cNvCxnSpPr/>
              <p:nvPr/>
            </p:nvCxnSpPr>
            <p:spPr>
              <a:xfrm flipH="1">
                <a:off x="1388853" y="714795"/>
                <a:ext cx="1597025" cy="1918335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2ECFD12-9D7F-0768-0FB7-B9D60FB6E717}"/>
                  </a:ext>
                </a:extLst>
              </p:cNvPr>
              <p:cNvCxnSpPr/>
              <p:nvPr/>
            </p:nvCxnSpPr>
            <p:spPr>
              <a:xfrm flipH="1">
                <a:off x="715992" y="248968"/>
                <a:ext cx="1642745" cy="1973580"/>
              </a:xfrm>
              <a:prstGeom prst="line">
                <a:avLst/>
              </a:prstGeom>
              <a:ln w="12700">
                <a:solidFill>
                  <a:schemeClr val="accent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74C4405-62B7-ECDE-A0E5-0F30927F7AB1}"/>
                  </a:ext>
                </a:extLst>
              </p:cNvPr>
              <p:cNvSpPr/>
              <p:nvPr/>
            </p:nvSpPr>
            <p:spPr>
              <a:xfrm>
                <a:off x="1155939" y="1594689"/>
                <a:ext cx="94890" cy="9489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D4D58DD-E01D-5161-4884-E0416628F2B4}"/>
                  </a:ext>
                </a:extLst>
              </p:cNvPr>
              <p:cNvSpPr/>
              <p:nvPr/>
            </p:nvSpPr>
            <p:spPr>
              <a:xfrm>
                <a:off x="1250830" y="1465293"/>
                <a:ext cx="94890" cy="9489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22C93FE-B5B8-FB4E-E41C-BD7545525FE3}"/>
                  </a:ext>
                </a:extLst>
              </p:cNvPr>
              <p:cNvSpPr/>
              <p:nvPr/>
            </p:nvSpPr>
            <p:spPr>
              <a:xfrm>
                <a:off x="1958196" y="1836229"/>
                <a:ext cx="94890" cy="9489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94AA918-E5B9-920D-B0E7-D4AE46DD22E9}"/>
                  </a:ext>
                </a:extLst>
              </p:cNvPr>
              <p:cNvGrpSpPr/>
              <p:nvPr/>
            </p:nvGrpSpPr>
            <p:grpSpPr>
              <a:xfrm>
                <a:off x="0" y="170570"/>
                <a:ext cx="2953692" cy="2608125"/>
                <a:chOff x="0" y="170570"/>
                <a:chExt cx="2953692" cy="2608125"/>
              </a:xfrm>
            </p:grpSpPr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32200EAB-2EDE-3A25-B997-87C8637EDEC2}"/>
                    </a:ext>
                  </a:extLst>
                </p:cNvPr>
                <p:cNvCxnSpPr/>
                <p:nvPr/>
              </p:nvCxnSpPr>
              <p:spPr>
                <a:xfrm flipV="1">
                  <a:off x="330919" y="247728"/>
                  <a:ext cx="432" cy="2530967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310B79F-E508-0DD0-2C94-A0D66A1344A6}"/>
                    </a:ext>
                  </a:extLst>
                </p:cNvPr>
                <p:cNvSpPr/>
                <p:nvPr/>
              </p:nvSpPr>
              <p:spPr>
                <a:xfrm>
                  <a:off x="733245" y="1222992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D72F8DBD-45A8-25A2-2C11-2C20DE971B3A}"/>
                    </a:ext>
                  </a:extLst>
                </p:cNvPr>
                <p:cNvSpPr/>
                <p:nvPr/>
              </p:nvSpPr>
              <p:spPr>
                <a:xfrm>
                  <a:off x="1233577" y="1257498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A1CAABED-B394-2F3B-70CC-33E82C177B6A}"/>
                    </a:ext>
                  </a:extLst>
                </p:cNvPr>
                <p:cNvSpPr/>
                <p:nvPr/>
              </p:nvSpPr>
              <p:spPr>
                <a:xfrm>
                  <a:off x="810883" y="1662939"/>
                  <a:ext cx="94615" cy="94615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82B3ED51-B7BD-B653-44A5-F1C490BD795E}"/>
                    </a:ext>
                  </a:extLst>
                </p:cNvPr>
                <p:cNvSpPr/>
                <p:nvPr/>
              </p:nvSpPr>
              <p:spPr>
                <a:xfrm>
                  <a:off x="1000664" y="1447279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C11812F3-D89B-6222-80FC-1133A4F8596B}"/>
                    </a:ext>
                  </a:extLst>
                </p:cNvPr>
                <p:cNvSpPr/>
                <p:nvPr/>
              </p:nvSpPr>
              <p:spPr>
                <a:xfrm>
                  <a:off x="586596" y="1455906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956A9081-685C-13C1-B0D3-453663A4915F}"/>
                    </a:ext>
                  </a:extLst>
                </p:cNvPr>
                <p:cNvSpPr/>
                <p:nvPr/>
              </p:nvSpPr>
              <p:spPr>
                <a:xfrm>
                  <a:off x="1958196" y="2059755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FEB30A5-7AEA-96D4-448F-1104ED910132}"/>
                    </a:ext>
                  </a:extLst>
                </p:cNvPr>
                <p:cNvSpPr/>
                <p:nvPr/>
              </p:nvSpPr>
              <p:spPr>
                <a:xfrm>
                  <a:off x="2286000" y="1757830"/>
                  <a:ext cx="94615" cy="94615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F3258FE-7BBD-6E79-AAEA-75A22A827AFB}"/>
                    </a:ext>
                  </a:extLst>
                </p:cNvPr>
                <p:cNvSpPr/>
                <p:nvPr/>
              </p:nvSpPr>
              <p:spPr>
                <a:xfrm>
                  <a:off x="2286000" y="1964864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851AA563-F2E9-3700-A8FA-6038497F71E9}"/>
                    </a:ext>
                  </a:extLst>
                </p:cNvPr>
                <p:cNvSpPr/>
                <p:nvPr/>
              </p:nvSpPr>
              <p:spPr>
                <a:xfrm>
                  <a:off x="2441275" y="2120139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ADAB8ACD-08D0-6E92-11EA-BCB435FCFFF0}"/>
                    </a:ext>
                  </a:extLst>
                </p:cNvPr>
                <p:cNvSpPr/>
                <p:nvPr/>
              </p:nvSpPr>
              <p:spPr>
                <a:xfrm>
                  <a:off x="2216988" y="2309921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 Box 19">
                      <a:extLst>
                        <a:ext uri="{FF2B5EF4-FFF2-40B4-BE49-F238E27FC236}">
                          <a16:creationId xmlns:a16="http://schemas.microsoft.com/office/drawing/2014/main" id="{854D950E-D7B5-EEDB-BEB5-A4CD544F32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170570"/>
                      <a:ext cx="327660" cy="29273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SG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Text Box 19">
                      <a:extLst>
                        <a:ext uri="{FF2B5EF4-FFF2-40B4-BE49-F238E27FC236}">
                          <a16:creationId xmlns:a16="http://schemas.microsoft.com/office/drawing/2014/main" id="{854D950E-D7B5-EEDB-BEB5-A4CD544F326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170570"/>
                      <a:ext cx="327660" cy="29273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 w="63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EB3C3880-153E-21BF-A0AE-523025030E42}"/>
                    </a:ext>
                  </a:extLst>
                </p:cNvPr>
                <p:cNvCxnSpPr/>
                <p:nvPr/>
              </p:nvCxnSpPr>
              <p:spPr>
                <a:xfrm flipH="1">
                  <a:off x="1000664" y="576011"/>
                  <a:ext cx="1595755" cy="192155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ECD770D4-753C-E740-33E6-AE63CE897620}"/>
                    </a:ext>
                  </a:extLst>
                </p:cNvPr>
                <p:cNvSpPr/>
                <p:nvPr/>
              </p:nvSpPr>
              <p:spPr>
                <a:xfrm>
                  <a:off x="1000664" y="1197113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BB95EC70-7F8D-0A47-CBAC-0BA903515897}"/>
                    </a:ext>
                  </a:extLst>
                </p:cNvPr>
                <p:cNvSpPr/>
                <p:nvPr/>
              </p:nvSpPr>
              <p:spPr>
                <a:xfrm>
                  <a:off x="810883" y="1455906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7A9B11BD-9BBB-813F-AAFD-17D8B4DA234B}"/>
                    </a:ext>
                  </a:extLst>
                </p:cNvPr>
                <p:cNvSpPr/>
                <p:nvPr/>
              </p:nvSpPr>
              <p:spPr>
                <a:xfrm>
                  <a:off x="2191109" y="2128766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C5E64A18-3668-42FC-0551-46B16A038F12}"/>
                    </a:ext>
                  </a:extLst>
                </p:cNvPr>
                <p:cNvSpPr/>
                <p:nvPr/>
              </p:nvSpPr>
              <p:spPr>
                <a:xfrm>
                  <a:off x="2536166" y="1844094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EB2CF2EE-0F30-DE81-FEFC-1722B58BA7E6}"/>
                    </a:ext>
                  </a:extLst>
                </p:cNvPr>
                <p:cNvSpPr/>
                <p:nvPr/>
              </p:nvSpPr>
              <p:spPr>
                <a:xfrm>
                  <a:off x="1863305" y="2249536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B9A04D68-6CF0-F4AC-83D2-64D92BEE2928}"/>
                    </a:ext>
                  </a:extLst>
                </p:cNvPr>
                <p:cNvSpPr/>
                <p:nvPr/>
              </p:nvSpPr>
              <p:spPr>
                <a:xfrm>
                  <a:off x="2631056" y="2077007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D6D8E445-11EF-59C0-E7D1-73AD8273F795}"/>
                    </a:ext>
                  </a:extLst>
                </p:cNvPr>
                <p:cNvCxnSpPr/>
                <p:nvPr/>
              </p:nvCxnSpPr>
              <p:spPr>
                <a:xfrm>
                  <a:off x="2341832" y="282234"/>
                  <a:ext cx="611860" cy="482971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Text Box 34">
                      <a:extLst>
                        <a:ext uri="{FF2B5EF4-FFF2-40B4-BE49-F238E27FC236}">
                          <a16:creationId xmlns:a16="http://schemas.microsoft.com/office/drawing/2014/main" id="{48B7C41F-EE9B-97FC-DE02-513918009006}"/>
                        </a:ext>
                      </a:extLst>
                    </p:cNvPr>
                    <p:cNvSpPr txBox="1"/>
                    <p:nvPr/>
                  </p:nvSpPr>
                  <p:spPr>
                    <a:xfrm rot="18561106">
                      <a:off x="1524677" y="836763"/>
                      <a:ext cx="1207135" cy="29273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lang="en-US" sz="12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sz="12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sz="12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0" name="Text Box 34">
                      <a:extLst>
                        <a:ext uri="{FF2B5EF4-FFF2-40B4-BE49-F238E27FC236}">
                          <a16:creationId xmlns:a16="http://schemas.microsoft.com/office/drawing/2014/main" id="{48B7C41F-EE9B-97FC-DE02-5139180090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8561106">
                      <a:off x="1524677" y="836763"/>
                      <a:ext cx="1207135" cy="29273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63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C9E99C3-CFE8-9356-D29D-A7EE693662DC}"/>
              </a:ext>
            </a:extLst>
          </p:cNvPr>
          <p:cNvGrpSpPr/>
          <p:nvPr/>
        </p:nvGrpSpPr>
        <p:grpSpPr>
          <a:xfrm>
            <a:off x="4986622" y="1591295"/>
            <a:ext cx="3665856" cy="2950371"/>
            <a:chOff x="0" y="170570"/>
            <a:chExt cx="3666226" cy="2950995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8065802-352B-975F-E6BB-EA46E51A9C09}"/>
                </a:ext>
              </a:extLst>
            </p:cNvPr>
            <p:cNvCxnSpPr/>
            <p:nvPr/>
          </p:nvCxnSpPr>
          <p:spPr>
            <a:xfrm>
              <a:off x="327804" y="2775550"/>
              <a:ext cx="3226279" cy="4709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 Box 20">
                  <a:extLst>
                    <a:ext uri="{FF2B5EF4-FFF2-40B4-BE49-F238E27FC236}">
                      <a16:creationId xmlns:a16="http://schemas.microsoft.com/office/drawing/2014/main" id="{03C1A35A-1E37-BD22-971C-9F9F61F68942}"/>
                    </a:ext>
                  </a:extLst>
                </p:cNvPr>
                <p:cNvSpPr txBox="1"/>
                <p:nvPr/>
              </p:nvSpPr>
              <p:spPr>
                <a:xfrm>
                  <a:off x="3338422" y="2828267"/>
                  <a:ext cx="327804" cy="29329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SG" sz="12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 Box 20">
                  <a:extLst>
                    <a:ext uri="{FF2B5EF4-FFF2-40B4-BE49-F238E27FC236}">
                      <a16:creationId xmlns:a16="http://schemas.microsoft.com/office/drawing/2014/main" id="{F58C23E5-5291-2275-D0C7-EFB11348A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8422" y="2828267"/>
                  <a:ext cx="327804" cy="2932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57F46F8-1CAA-1ACB-E63F-29FD1626ED64}"/>
                </a:ext>
              </a:extLst>
            </p:cNvPr>
            <p:cNvGrpSpPr/>
            <p:nvPr/>
          </p:nvGrpSpPr>
          <p:grpSpPr>
            <a:xfrm>
              <a:off x="0" y="170570"/>
              <a:ext cx="2725946" cy="2608125"/>
              <a:chOff x="0" y="170570"/>
              <a:chExt cx="2725946" cy="2608125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C193E83-0659-D3E0-9A8C-14C6C7378F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1589" y="597739"/>
                <a:ext cx="384587" cy="2014675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527B89D8-FB25-B795-BFAB-B3CE207014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5484" y="636459"/>
                <a:ext cx="388892" cy="1956849"/>
              </a:xfrm>
              <a:prstGeom prst="line">
                <a:avLst/>
              </a:prstGeom>
              <a:ln w="12700">
                <a:solidFill>
                  <a:schemeClr val="accent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7781E8B1-FEF1-972C-9F19-CC7118C41B10}"/>
                  </a:ext>
                </a:extLst>
              </p:cNvPr>
              <p:cNvSpPr/>
              <p:nvPr/>
            </p:nvSpPr>
            <p:spPr>
              <a:xfrm>
                <a:off x="1155939" y="1594689"/>
                <a:ext cx="94890" cy="94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1B91180-66EF-9D65-EB31-7FFB7CBCDAC4}"/>
                  </a:ext>
                </a:extLst>
              </p:cNvPr>
              <p:cNvSpPr/>
              <p:nvPr/>
            </p:nvSpPr>
            <p:spPr>
              <a:xfrm>
                <a:off x="1250830" y="1465293"/>
                <a:ext cx="94890" cy="9489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F245F82-E33D-92C5-F7FC-F7B140477297}"/>
                  </a:ext>
                </a:extLst>
              </p:cNvPr>
              <p:cNvSpPr/>
              <p:nvPr/>
            </p:nvSpPr>
            <p:spPr>
              <a:xfrm>
                <a:off x="1958196" y="1836229"/>
                <a:ext cx="94890" cy="9489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/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FB0089C5-3B0B-E165-CA20-C143E26F7D25}"/>
                  </a:ext>
                </a:extLst>
              </p:cNvPr>
              <p:cNvGrpSpPr/>
              <p:nvPr/>
            </p:nvGrpSpPr>
            <p:grpSpPr>
              <a:xfrm>
                <a:off x="0" y="170570"/>
                <a:ext cx="2725946" cy="2608125"/>
                <a:chOff x="0" y="170570"/>
                <a:chExt cx="2725946" cy="2608125"/>
              </a:xfrm>
            </p:grpSpPr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E1148BFA-FDD1-4494-CCE8-D3D13F40C226}"/>
                    </a:ext>
                  </a:extLst>
                </p:cNvPr>
                <p:cNvCxnSpPr/>
                <p:nvPr/>
              </p:nvCxnSpPr>
              <p:spPr>
                <a:xfrm flipV="1">
                  <a:off x="330919" y="247728"/>
                  <a:ext cx="432" cy="2530967"/>
                </a:xfrm>
                <a:prstGeom prst="straightConnector1">
                  <a:avLst/>
                </a:prstGeom>
                <a:ln w="952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27F94FDB-FB98-306D-96D9-3DD74B9F18EE}"/>
                    </a:ext>
                  </a:extLst>
                </p:cNvPr>
                <p:cNvSpPr/>
                <p:nvPr/>
              </p:nvSpPr>
              <p:spPr>
                <a:xfrm>
                  <a:off x="733245" y="1222992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59DB98F0-56D8-086B-B337-D80EF3060EC8}"/>
                    </a:ext>
                  </a:extLst>
                </p:cNvPr>
                <p:cNvSpPr/>
                <p:nvPr/>
              </p:nvSpPr>
              <p:spPr>
                <a:xfrm>
                  <a:off x="1233577" y="1257498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4476DB4D-8CAA-EA2B-BE7A-02756F0608EC}"/>
                    </a:ext>
                  </a:extLst>
                </p:cNvPr>
                <p:cNvSpPr/>
                <p:nvPr/>
              </p:nvSpPr>
              <p:spPr>
                <a:xfrm>
                  <a:off x="810883" y="1662939"/>
                  <a:ext cx="94615" cy="94615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32A0FA05-CF11-E3A0-519F-31B922FD8DE0}"/>
                    </a:ext>
                  </a:extLst>
                </p:cNvPr>
                <p:cNvSpPr/>
                <p:nvPr/>
              </p:nvSpPr>
              <p:spPr>
                <a:xfrm>
                  <a:off x="1000664" y="1447279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A95EC0D4-D6AB-E030-C1AC-A20DE8B57D66}"/>
                    </a:ext>
                  </a:extLst>
                </p:cNvPr>
                <p:cNvSpPr/>
                <p:nvPr/>
              </p:nvSpPr>
              <p:spPr>
                <a:xfrm>
                  <a:off x="586596" y="1455906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906271E7-5FB7-3E4D-CEFE-4DAEDDBCA349}"/>
                    </a:ext>
                  </a:extLst>
                </p:cNvPr>
                <p:cNvSpPr/>
                <p:nvPr/>
              </p:nvSpPr>
              <p:spPr>
                <a:xfrm>
                  <a:off x="1958196" y="2059755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EAE4D517-1473-2E44-36F8-D29185C618E2}"/>
                    </a:ext>
                  </a:extLst>
                </p:cNvPr>
                <p:cNvSpPr/>
                <p:nvPr/>
              </p:nvSpPr>
              <p:spPr>
                <a:xfrm>
                  <a:off x="2286000" y="1757830"/>
                  <a:ext cx="94615" cy="94615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2E1F8FA8-F58E-7194-18DE-F5FDB2E2AB4D}"/>
                    </a:ext>
                  </a:extLst>
                </p:cNvPr>
                <p:cNvSpPr/>
                <p:nvPr/>
              </p:nvSpPr>
              <p:spPr>
                <a:xfrm>
                  <a:off x="2286000" y="1964864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87668ED7-D18E-CACC-C9CF-6524A236E1A7}"/>
                    </a:ext>
                  </a:extLst>
                </p:cNvPr>
                <p:cNvSpPr/>
                <p:nvPr/>
              </p:nvSpPr>
              <p:spPr>
                <a:xfrm>
                  <a:off x="2441275" y="2120139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2B3BEA2E-4638-025B-863D-02B31D4DCC1F}"/>
                    </a:ext>
                  </a:extLst>
                </p:cNvPr>
                <p:cNvSpPr/>
                <p:nvPr/>
              </p:nvSpPr>
              <p:spPr>
                <a:xfrm>
                  <a:off x="2216988" y="2309921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Text Box 19">
                      <a:extLst>
                        <a:ext uri="{FF2B5EF4-FFF2-40B4-BE49-F238E27FC236}">
                          <a16:creationId xmlns:a16="http://schemas.microsoft.com/office/drawing/2014/main" id="{BD1F5E7A-62FF-E2DF-65EC-1E43DC71F6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0" y="170570"/>
                      <a:ext cx="327660" cy="29273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SG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Text Box 19">
                      <a:extLst>
                        <a:ext uri="{FF2B5EF4-FFF2-40B4-BE49-F238E27FC236}">
                          <a16:creationId xmlns:a16="http://schemas.microsoft.com/office/drawing/2014/main" id="{854D950E-D7B5-EEDB-BEB5-A4CD544F326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170570"/>
                      <a:ext cx="327660" cy="29273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 w="63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8B7E7759-7E55-B07D-9240-57566DB545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67539" y="626858"/>
                  <a:ext cx="373414" cy="1985556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FA3B2153-22AE-7AF0-2381-30E05F55F612}"/>
                    </a:ext>
                  </a:extLst>
                </p:cNvPr>
                <p:cNvSpPr/>
                <p:nvPr/>
              </p:nvSpPr>
              <p:spPr>
                <a:xfrm>
                  <a:off x="1000664" y="1197113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CCD380AC-596C-5356-1641-0D78230537FF}"/>
                    </a:ext>
                  </a:extLst>
                </p:cNvPr>
                <p:cNvSpPr/>
                <p:nvPr/>
              </p:nvSpPr>
              <p:spPr>
                <a:xfrm>
                  <a:off x="810883" y="1455906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A43D39B6-8F83-46C4-E409-ABE4FED37161}"/>
                    </a:ext>
                  </a:extLst>
                </p:cNvPr>
                <p:cNvSpPr/>
                <p:nvPr/>
              </p:nvSpPr>
              <p:spPr>
                <a:xfrm>
                  <a:off x="2191109" y="2128766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2E764BB0-6AB0-34CF-47C1-C8F20E0BC689}"/>
                    </a:ext>
                  </a:extLst>
                </p:cNvPr>
                <p:cNvSpPr/>
                <p:nvPr/>
              </p:nvSpPr>
              <p:spPr>
                <a:xfrm>
                  <a:off x="2536166" y="1844094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52CC79DB-B74A-F2FE-6E84-1F11C1700E2C}"/>
                    </a:ext>
                  </a:extLst>
                </p:cNvPr>
                <p:cNvSpPr/>
                <p:nvPr/>
              </p:nvSpPr>
              <p:spPr>
                <a:xfrm>
                  <a:off x="1863305" y="2249536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9E4CA204-A045-2648-20E8-7B27D43117E7}"/>
                    </a:ext>
                  </a:extLst>
                </p:cNvPr>
                <p:cNvSpPr/>
                <p:nvPr/>
              </p:nvSpPr>
              <p:spPr>
                <a:xfrm>
                  <a:off x="2631056" y="2077007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cxnSp>
              <p:nvCxnSpPr>
                <p:cNvPr id="83" name="Straight Arrow Connector 82">
                  <a:extLst>
                    <a:ext uri="{FF2B5EF4-FFF2-40B4-BE49-F238E27FC236}">
                      <a16:creationId xmlns:a16="http://schemas.microsoft.com/office/drawing/2014/main" id="{7844F559-DDB6-2027-6EB1-16E861195A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45484" y="557332"/>
                  <a:ext cx="438822" cy="56808"/>
                </a:xfrm>
                <a:prstGeom prst="straightConnector1">
                  <a:avLst/>
                </a:prstGeom>
                <a:ln>
                  <a:prstDash val="dash"/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4" name="Text Box 34">
                      <a:extLst>
                        <a:ext uri="{FF2B5EF4-FFF2-40B4-BE49-F238E27FC236}">
                          <a16:creationId xmlns:a16="http://schemas.microsoft.com/office/drawing/2014/main" id="{48E36249-4F5B-DC3D-5805-459F1C802724}"/>
                        </a:ext>
                      </a:extLst>
                    </p:cNvPr>
                    <p:cNvSpPr txBox="1"/>
                    <p:nvPr/>
                  </p:nvSpPr>
                  <p:spPr>
                    <a:xfrm rot="4723249">
                      <a:off x="1008584" y="1294995"/>
                      <a:ext cx="1207135" cy="29273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p>
                              <m:sSupPr>
                                <m:ctrlPr>
                                  <a:rPr lang="en-US" sz="12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sz="12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sz="12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  <m:r>
                              <a:rPr lang="en-US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en-SG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4" name="Text Box 34">
                      <a:extLst>
                        <a:ext uri="{FF2B5EF4-FFF2-40B4-BE49-F238E27FC236}">
                          <a16:creationId xmlns:a16="http://schemas.microsoft.com/office/drawing/2014/main" id="{48E36249-4F5B-DC3D-5805-459F1C80272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4723249">
                      <a:off x="1008584" y="1294995"/>
                      <a:ext cx="1207135" cy="29273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63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EDAFC76A-9C8A-7D28-90D6-408035CBABC1}"/>
              </a:ext>
            </a:extLst>
          </p:cNvPr>
          <p:cNvSpPr txBox="1"/>
          <p:nvPr/>
        </p:nvSpPr>
        <p:spPr>
          <a:xfrm rot="2336375">
            <a:off x="2744537" y="1671267"/>
            <a:ext cx="923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Margin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6F925BD-F11B-542C-0500-4FD72602802D}"/>
              </a:ext>
            </a:extLst>
          </p:cNvPr>
          <p:cNvSpPr txBox="1"/>
          <p:nvPr/>
        </p:nvSpPr>
        <p:spPr>
          <a:xfrm rot="21031616">
            <a:off x="5915450" y="1674174"/>
            <a:ext cx="923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Margin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0EE6748-AEAA-D1C5-BCD9-D7115364CA13}"/>
              </a:ext>
            </a:extLst>
          </p:cNvPr>
          <p:cNvSpPr txBox="1"/>
          <p:nvPr/>
        </p:nvSpPr>
        <p:spPr>
          <a:xfrm>
            <a:off x="734369" y="4279943"/>
            <a:ext cx="1723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Decision boundary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9CBDBF3-FB9E-F60F-D3E2-1DCCB06061E0}"/>
              </a:ext>
            </a:extLst>
          </p:cNvPr>
          <p:cNvCxnSpPr>
            <a:cxnSpLocks/>
            <a:stCxn id="109" idx="0"/>
          </p:cNvCxnSpPr>
          <p:nvPr/>
        </p:nvCxnSpPr>
        <p:spPr>
          <a:xfrm flipV="1">
            <a:off x="1596194" y="3667616"/>
            <a:ext cx="19611" cy="6123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49A634F-73BD-A7A9-6FAF-3F408DBFE416}"/>
              </a:ext>
            </a:extLst>
          </p:cNvPr>
          <p:cNvSpPr txBox="1"/>
          <p:nvPr/>
        </p:nvSpPr>
        <p:spPr>
          <a:xfrm>
            <a:off x="5755023" y="4303475"/>
            <a:ext cx="1723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Decision boundary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0C2C345-547C-A9BF-D9CA-21D647545E3B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6616848" y="3691148"/>
            <a:ext cx="19611" cy="6123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9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Support Vector Machine (SVM)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565190"/>
            <a:ext cx="36576" cy="41148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867B7EF5-664F-3516-80BC-E90E2A29D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975" y="1480657"/>
            <a:ext cx="4629601" cy="287688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Find a decision boundary </a:t>
            </a:r>
            <a:r>
              <a:rPr lang="en-US" dirty="0" err="1"/>
              <a:t>s.t.</a:t>
            </a:r>
            <a:r>
              <a:rPr lang="en-US" dirty="0"/>
              <a:t> the margin is max and data points are classified correctly.</a:t>
            </a:r>
            <a:endParaRPr lang="en-US" sz="18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2659A2-5E86-C5D1-0930-D7701B2CB8D8}"/>
              </a:ext>
            </a:extLst>
          </p:cNvPr>
          <p:cNvGrpSpPr/>
          <p:nvPr/>
        </p:nvGrpSpPr>
        <p:grpSpPr>
          <a:xfrm>
            <a:off x="407552" y="1424693"/>
            <a:ext cx="3977640" cy="3193804"/>
            <a:chOff x="594360" y="1424693"/>
            <a:chExt cx="3977640" cy="319380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86639D-B5A6-4148-3AAF-D5DD485AD0E2}"/>
                </a:ext>
              </a:extLst>
            </p:cNvPr>
            <p:cNvGrpSpPr/>
            <p:nvPr/>
          </p:nvGrpSpPr>
          <p:grpSpPr>
            <a:xfrm>
              <a:off x="594360" y="1424693"/>
              <a:ext cx="3665856" cy="3120906"/>
              <a:chOff x="0" y="0"/>
              <a:chExt cx="3666226" cy="3121565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96359578-F263-B9F5-238E-735C1E1BA6C5}"/>
                  </a:ext>
                </a:extLst>
              </p:cNvPr>
              <p:cNvCxnSpPr/>
              <p:nvPr/>
            </p:nvCxnSpPr>
            <p:spPr>
              <a:xfrm>
                <a:off x="327804" y="2775550"/>
                <a:ext cx="3226279" cy="4709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 Box 20">
                    <a:extLst>
                      <a:ext uri="{FF2B5EF4-FFF2-40B4-BE49-F238E27FC236}">
                        <a16:creationId xmlns:a16="http://schemas.microsoft.com/office/drawing/2014/main" id="{F58C23E5-5291-2275-D0C7-EFB11348AFD5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422" y="2828267"/>
                    <a:ext cx="327804" cy="293298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SG" sz="12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Text Box 20">
                    <a:extLst>
                      <a:ext uri="{FF2B5EF4-FFF2-40B4-BE49-F238E27FC236}">
                        <a16:creationId xmlns:a16="http://schemas.microsoft.com/office/drawing/2014/main" id="{F58C23E5-5291-2275-D0C7-EFB11348AF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422" y="2828267"/>
                    <a:ext cx="327804" cy="29329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BE98D31-1633-A6FB-E752-20091B8C8F21}"/>
                  </a:ext>
                </a:extLst>
              </p:cNvPr>
              <p:cNvGrpSpPr/>
              <p:nvPr/>
            </p:nvGrpSpPr>
            <p:grpSpPr>
              <a:xfrm>
                <a:off x="0" y="0"/>
                <a:ext cx="3433313" cy="2778695"/>
                <a:chOff x="0" y="0"/>
                <a:chExt cx="3433313" cy="2778695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FF1FE343-F834-5930-E973-15E099BA4208}"/>
                    </a:ext>
                  </a:extLst>
                </p:cNvPr>
                <p:cNvCxnSpPr/>
                <p:nvPr/>
              </p:nvCxnSpPr>
              <p:spPr>
                <a:xfrm flipH="1">
                  <a:off x="1388853" y="714795"/>
                  <a:ext cx="1597025" cy="1918335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2ECFD12-9D7F-0768-0FB7-B9D60FB6E717}"/>
                    </a:ext>
                  </a:extLst>
                </p:cNvPr>
                <p:cNvCxnSpPr/>
                <p:nvPr/>
              </p:nvCxnSpPr>
              <p:spPr>
                <a:xfrm flipH="1">
                  <a:off x="715992" y="248968"/>
                  <a:ext cx="1642745" cy="1973580"/>
                </a:xfrm>
                <a:prstGeom prst="line">
                  <a:avLst/>
                </a:prstGeom>
                <a:ln w="12700">
                  <a:solidFill>
                    <a:schemeClr val="accent2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A74C4405-62B7-ECDE-A0E5-0F30927F7AB1}"/>
                    </a:ext>
                  </a:extLst>
                </p:cNvPr>
                <p:cNvSpPr/>
                <p:nvPr/>
              </p:nvSpPr>
              <p:spPr>
                <a:xfrm>
                  <a:off x="1155939" y="1594689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9D4D58DD-E01D-5161-4884-E0416628F2B4}"/>
                    </a:ext>
                  </a:extLst>
                </p:cNvPr>
                <p:cNvSpPr/>
                <p:nvPr/>
              </p:nvSpPr>
              <p:spPr>
                <a:xfrm>
                  <a:off x="1250830" y="1465293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22C93FE-B5B8-FB4E-E41C-BD7545525FE3}"/>
                    </a:ext>
                  </a:extLst>
                </p:cNvPr>
                <p:cNvSpPr/>
                <p:nvPr/>
              </p:nvSpPr>
              <p:spPr>
                <a:xfrm>
                  <a:off x="1958196" y="1836229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A94AA918-E5B9-920D-B0E7-D4AE46DD22E9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3433313" cy="2778695"/>
                  <a:chOff x="0" y="0"/>
                  <a:chExt cx="3433313" cy="2778695"/>
                </a:xfrm>
              </p:grpSpPr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32200EAB-2EDE-3A25-B997-87C8637EDEC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30919" y="247728"/>
                    <a:ext cx="432" cy="2530967"/>
                  </a:xfrm>
                  <a:prstGeom prst="straightConnector1">
                    <a:avLst/>
                  </a:prstGeom>
                  <a:ln w="95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0310B79F-E508-0DD0-2C94-A0D66A1344A6}"/>
                      </a:ext>
                    </a:extLst>
                  </p:cNvPr>
                  <p:cNvSpPr/>
                  <p:nvPr/>
                </p:nvSpPr>
                <p:spPr>
                  <a:xfrm>
                    <a:off x="733245" y="1222992"/>
                    <a:ext cx="94890" cy="9489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D72F8DBD-45A8-25A2-2C11-2C20DE971B3A}"/>
                      </a:ext>
                    </a:extLst>
                  </p:cNvPr>
                  <p:cNvSpPr/>
                  <p:nvPr/>
                </p:nvSpPr>
                <p:spPr>
                  <a:xfrm>
                    <a:off x="1233577" y="1257498"/>
                    <a:ext cx="94890" cy="9489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A1CAABED-B394-2F3B-70CC-33E82C177B6A}"/>
                      </a:ext>
                    </a:extLst>
                  </p:cNvPr>
                  <p:cNvSpPr/>
                  <p:nvPr/>
                </p:nvSpPr>
                <p:spPr>
                  <a:xfrm>
                    <a:off x="810883" y="1662939"/>
                    <a:ext cx="94615" cy="94615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82B3ED51-B7BD-B653-44A5-F1C490BD795E}"/>
                      </a:ext>
                    </a:extLst>
                  </p:cNvPr>
                  <p:cNvSpPr/>
                  <p:nvPr/>
                </p:nvSpPr>
                <p:spPr>
                  <a:xfrm>
                    <a:off x="1000664" y="1447279"/>
                    <a:ext cx="94890" cy="9489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C11812F3-D89B-6222-80FC-1133A4F8596B}"/>
                      </a:ext>
                    </a:extLst>
                  </p:cNvPr>
                  <p:cNvSpPr/>
                  <p:nvPr/>
                </p:nvSpPr>
                <p:spPr>
                  <a:xfrm>
                    <a:off x="586596" y="1455906"/>
                    <a:ext cx="94890" cy="9489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956A9081-685C-13C1-B0D3-453663A4915F}"/>
                      </a:ext>
                    </a:extLst>
                  </p:cNvPr>
                  <p:cNvSpPr/>
                  <p:nvPr/>
                </p:nvSpPr>
                <p:spPr>
                  <a:xfrm>
                    <a:off x="1958196" y="2059755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2FEB30A5-7AEA-96D4-448F-1104ED910132}"/>
                      </a:ext>
                    </a:extLst>
                  </p:cNvPr>
                  <p:cNvSpPr/>
                  <p:nvPr/>
                </p:nvSpPr>
                <p:spPr>
                  <a:xfrm>
                    <a:off x="2286000" y="1757830"/>
                    <a:ext cx="94615" cy="94615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AF3258FE-7BBD-6E79-AAEA-75A22A827AFB}"/>
                      </a:ext>
                    </a:extLst>
                  </p:cNvPr>
                  <p:cNvSpPr/>
                  <p:nvPr/>
                </p:nvSpPr>
                <p:spPr>
                  <a:xfrm>
                    <a:off x="2286000" y="1964864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851AA563-F2E9-3700-A8FA-6038497F71E9}"/>
                      </a:ext>
                    </a:extLst>
                  </p:cNvPr>
                  <p:cNvSpPr/>
                  <p:nvPr/>
                </p:nvSpPr>
                <p:spPr>
                  <a:xfrm>
                    <a:off x="2441275" y="2120139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ADAB8ACD-08D0-6E92-11EA-BCB435FCFFF0}"/>
                      </a:ext>
                    </a:extLst>
                  </p:cNvPr>
                  <p:cNvSpPr/>
                  <p:nvPr/>
                </p:nvSpPr>
                <p:spPr>
                  <a:xfrm>
                    <a:off x="2216988" y="2309921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 Box 19">
                        <a:extLst>
                          <a:ext uri="{FF2B5EF4-FFF2-40B4-BE49-F238E27FC236}">
                            <a16:creationId xmlns:a16="http://schemas.microsoft.com/office/drawing/2014/main" id="{854D950E-D7B5-EEDB-BEB5-A4CD544F326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0" y="170570"/>
                        <a:ext cx="327660" cy="292735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SG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9" name="Text Box 19">
                        <a:extLst>
                          <a:ext uri="{FF2B5EF4-FFF2-40B4-BE49-F238E27FC236}">
                            <a16:creationId xmlns:a16="http://schemas.microsoft.com/office/drawing/2014/main" id="{854D950E-D7B5-EEDB-BEB5-A4CD544F326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0" y="170570"/>
                        <a:ext cx="327660" cy="29273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EB3C3880-153E-21BF-A0AE-523025030E42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1000664" y="576011"/>
                    <a:ext cx="1595755" cy="1921556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ECD770D4-753C-E740-33E6-AE63CE897620}"/>
                      </a:ext>
                    </a:extLst>
                  </p:cNvPr>
                  <p:cNvSpPr/>
                  <p:nvPr/>
                </p:nvSpPr>
                <p:spPr>
                  <a:xfrm>
                    <a:off x="1000664" y="1197113"/>
                    <a:ext cx="94890" cy="9489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BB95EC70-7F8D-0A47-CBAC-0BA903515897}"/>
                      </a:ext>
                    </a:extLst>
                  </p:cNvPr>
                  <p:cNvSpPr/>
                  <p:nvPr/>
                </p:nvSpPr>
                <p:spPr>
                  <a:xfrm>
                    <a:off x="810883" y="1455906"/>
                    <a:ext cx="94890" cy="9489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7A9B11BD-9BBB-813F-AAFD-17D8B4DA234B}"/>
                      </a:ext>
                    </a:extLst>
                  </p:cNvPr>
                  <p:cNvSpPr/>
                  <p:nvPr/>
                </p:nvSpPr>
                <p:spPr>
                  <a:xfrm>
                    <a:off x="2191109" y="2128766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C5E64A18-3668-42FC-0551-46B16A038F12}"/>
                      </a:ext>
                    </a:extLst>
                  </p:cNvPr>
                  <p:cNvSpPr/>
                  <p:nvPr/>
                </p:nvSpPr>
                <p:spPr>
                  <a:xfrm>
                    <a:off x="2536166" y="1844094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EB2CF2EE-0F30-DE81-FEFC-1722B58BA7E6}"/>
                      </a:ext>
                    </a:extLst>
                  </p:cNvPr>
                  <p:cNvSpPr/>
                  <p:nvPr/>
                </p:nvSpPr>
                <p:spPr>
                  <a:xfrm>
                    <a:off x="1863305" y="2249536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B9A04D68-6CF0-F4AC-83D2-64D92BEE2928}"/>
                      </a:ext>
                    </a:extLst>
                  </p:cNvPr>
                  <p:cNvSpPr/>
                  <p:nvPr/>
                </p:nvSpPr>
                <p:spPr>
                  <a:xfrm>
                    <a:off x="2631056" y="2077007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cxnSp>
                <p:nvCxnSpPr>
                  <p:cNvPr id="37" name="Straight Arrow Connector 36">
                    <a:extLst>
                      <a:ext uri="{FF2B5EF4-FFF2-40B4-BE49-F238E27FC236}">
                        <a16:creationId xmlns:a16="http://schemas.microsoft.com/office/drawing/2014/main" id="{D6D8E445-11EF-59C0-E7D1-73AD8273F795}"/>
                      </a:ext>
                    </a:extLst>
                  </p:cNvPr>
                  <p:cNvCxnSpPr/>
                  <p:nvPr/>
                </p:nvCxnSpPr>
                <p:spPr>
                  <a:xfrm>
                    <a:off x="2341832" y="282234"/>
                    <a:ext cx="611860" cy="482971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8" name="Text Box 32">
                        <a:extLst>
                          <a:ext uri="{FF2B5EF4-FFF2-40B4-BE49-F238E27FC236}">
                            <a16:creationId xmlns:a16="http://schemas.microsoft.com/office/drawing/2014/main" id="{2ACD4630-E256-84A5-2499-1553CE3B8578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561106">
                        <a:off x="1317643" y="457200"/>
                        <a:ext cx="1207135" cy="292735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oMath>
                          </m:oMathPara>
                        </a14:m>
                        <a:endParaRPr lang="en-SG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8" name="Text Box 32">
                        <a:extLst>
                          <a:ext uri="{FF2B5EF4-FFF2-40B4-BE49-F238E27FC236}">
                            <a16:creationId xmlns:a16="http://schemas.microsoft.com/office/drawing/2014/main" id="{2ACD4630-E256-84A5-2499-1553CE3B857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8561106">
                        <a:off x="1317643" y="457200"/>
                        <a:ext cx="1207135" cy="29273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Text Box 33">
                        <a:extLst>
                          <a:ext uri="{FF2B5EF4-FFF2-40B4-BE49-F238E27FC236}">
                            <a16:creationId xmlns:a16="http://schemas.microsoft.com/office/drawing/2014/main" id="{E118ADBC-7E79-448A-DEA4-686C642756B1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561106">
                        <a:off x="2171658" y="992038"/>
                        <a:ext cx="1207698" cy="293298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=−1</m:t>
                              </m:r>
                            </m:oMath>
                          </m:oMathPara>
                        </a14:m>
                        <a:endParaRPr lang="en-SG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9" name="Text Box 33">
                        <a:extLst>
                          <a:ext uri="{FF2B5EF4-FFF2-40B4-BE49-F238E27FC236}">
                            <a16:creationId xmlns:a16="http://schemas.microsoft.com/office/drawing/2014/main" id="{E118ADBC-7E79-448A-DEA4-686C642756B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8561106">
                        <a:off x="2171658" y="992038"/>
                        <a:ext cx="1207698" cy="293298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0" name="Text Box 34">
                        <a:extLst>
                          <a:ext uri="{FF2B5EF4-FFF2-40B4-BE49-F238E27FC236}">
                            <a16:creationId xmlns:a16="http://schemas.microsoft.com/office/drawing/2014/main" id="{48B7C41F-EE9B-97FC-DE02-513918009006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561106">
                        <a:off x="1524677" y="836763"/>
                        <a:ext cx="1207135" cy="292735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oMath>
                          </m:oMathPara>
                        </a14:m>
                        <a:endParaRPr lang="en-SG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0" name="Text Box 34">
                        <a:extLst>
                          <a:ext uri="{FF2B5EF4-FFF2-40B4-BE49-F238E27FC236}">
                            <a16:creationId xmlns:a16="http://schemas.microsoft.com/office/drawing/2014/main" id="{48B7C41F-EE9B-97FC-DE02-51391800900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8561106">
                        <a:off x="1524677" y="836763"/>
                        <a:ext cx="1207135" cy="292735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1" name="Text Box 35">
                        <a:extLst>
                          <a:ext uri="{FF2B5EF4-FFF2-40B4-BE49-F238E27FC236}">
                            <a16:creationId xmlns:a16="http://schemas.microsoft.com/office/drawing/2014/main" id="{1597D573-DE6A-8C18-ECBA-22F1FCE57B54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2378083">
                        <a:off x="2225615" y="100839"/>
                        <a:ext cx="1207698" cy="460711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f>
                                <m:f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2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m:oMathPara>
                        </a14:m>
                        <a:endParaRPr lang="en-SG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1" name="Text Box 35">
                        <a:extLst>
                          <a:ext uri="{FF2B5EF4-FFF2-40B4-BE49-F238E27FC236}">
                            <a16:creationId xmlns:a16="http://schemas.microsoft.com/office/drawing/2014/main" id="{1597D573-DE6A-8C18-ECBA-22F1FCE57B5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2378083">
                        <a:off x="2225615" y="100839"/>
                        <a:ext cx="1207698" cy="460711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CBA6BC-9116-F28C-7F84-F1A443D7C91F}"/>
                </a:ext>
              </a:extLst>
            </p:cNvPr>
            <p:cNvSpPr txBox="1"/>
            <p:nvPr/>
          </p:nvSpPr>
          <p:spPr>
            <a:xfrm>
              <a:off x="3648852" y="1466392"/>
              <a:ext cx="9231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Margin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8193CA87-D33F-C4BF-2F4F-A1F0EE87A7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3539" y="1737136"/>
              <a:ext cx="536740" cy="3022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1E411D7-31B0-32F3-726C-7C6B0C8CE5DD}"/>
                </a:ext>
              </a:extLst>
            </p:cNvPr>
            <p:cNvSpPr txBox="1"/>
            <p:nvPr/>
          </p:nvSpPr>
          <p:spPr>
            <a:xfrm>
              <a:off x="1184191" y="1806096"/>
              <a:ext cx="92314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Support vectors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13DEF00F-005A-7CC8-BEB2-9B80AC67919F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1720317" y="2310235"/>
              <a:ext cx="43761" cy="72270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18AE393D-FB7D-6142-5619-6587C668806E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1719036" y="2302174"/>
              <a:ext cx="126028" cy="63493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FACE53B7-DAFE-C18A-3143-7E45E2399329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1729464" y="2310235"/>
              <a:ext cx="870335" cy="9502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97FBBA4-9FF6-769A-F987-343853207E58}"/>
                </a:ext>
              </a:extLst>
            </p:cNvPr>
            <p:cNvSpPr txBox="1"/>
            <p:nvPr/>
          </p:nvSpPr>
          <p:spPr>
            <a:xfrm>
              <a:off x="921177" y="4279943"/>
              <a:ext cx="17236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Decision boundary</a:t>
              </a: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6C777105-368C-27E9-38E2-290FE7DBFFCD}"/>
                </a:ext>
              </a:extLst>
            </p:cNvPr>
            <p:cNvCxnSpPr>
              <a:cxnSpLocks/>
              <a:stCxn id="93" idx="0"/>
            </p:cNvCxnSpPr>
            <p:nvPr/>
          </p:nvCxnSpPr>
          <p:spPr>
            <a:xfrm flipV="1">
              <a:off x="1783002" y="3667616"/>
              <a:ext cx="19611" cy="6123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0369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Support Vector Machine (SVM)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565190"/>
            <a:ext cx="36576" cy="41148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ontent Placeholder 2">
                <a:extLst>
                  <a:ext uri="{FF2B5EF4-FFF2-40B4-BE49-F238E27FC236}">
                    <a16:creationId xmlns:a16="http://schemas.microsoft.com/office/drawing/2014/main" id="{867B7EF5-664F-3516-80BC-E90E2A29D2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80975" y="1480657"/>
                <a:ext cx="4763025" cy="2876887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Minimizing: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𝒘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ma</m:t>
                          </m:r>
                          <m:func>
                            <m:funcPr>
                              <m:ctrl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b="1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1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1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r>
                                            <a:rPr lang="en-US" sz="18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sz="1800" b="1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1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1800" b="1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8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180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Content Placeholder 2">
                <a:extLst>
                  <a:ext uri="{FF2B5EF4-FFF2-40B4-BE49-F238E27FC236}">
                    <a16:creationId xmlns:a16="http://schemas.microsoft.com/office/drawing/2014/main" id="{867B7EF5-664F-3516-80BC-E90E2A29D2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80975" y="1480657"/>
                <a:ext cx="4763025" cy="2876887"/>
              </a:xfrm>
              <a:blipFill>
                <a:blip r:embed="rId2"/>
                <a:stretch>
                  <a:fillRect t="-31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052659A2-5E86-C5D1-0930-D7701B2CB8D8}"/>
              </a:ext>
            </a:extLst>
          </p:cNvPr>
          <p:cNvGrpSpPr/>
          <p:nvPr/>
        </p:nvGrpSpPr>
        <p:grpSpPr>
          <a:xfrm>
            <a:off x="407552" y="1424693"/>
            <a:ext cx="3977640" cy="3193804"/>
            <a:chOff x="594360" y="1424693"/>
            <a:chExt cx="3977640" cy="319380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86639D-B5A6-4148-3AAF-D5DD485AD0E2}"/>
                </a:ext>
              </a:extLst>
            </p:cNvPr>
            <p:cNvGrpSpPr/>
            <p:nvPr/>
          </p:nvGrpSpPr>
          <p:grpSpPr>
            <a:xfrm>
              <a:off x="594360" y="1424693"/>
              <a:ext cx="3665856" cy="3120906"/>
              <a:chOff x="0" y="0"/>
              <a:chExt cx="3666226" cy="3121565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96359578-F263-B9F5-238E-735C1E1BA6C5}"/>
                  </a:ext>
                </a:extLst>
              </p:cNvPr>
              <p:cNvCxnSpPr/>
              <p:nvPr/>
            </p:nvCxnSpPr>
            <p:spPr>
              <a:xfrm>
                <a:off x="327804" y="2775550"/>
                <a:ext cx="3226279" cy="4709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 Box 20">
                    <a:extLst>
                      <a:ext uri="{FF2B5EF4-FFF2-40B4-BE49-F238E27FC236}">
                        <a16:creationId xmlns:a16="http://schemas.microsoft.com/office/drawing/2014/main" id="{F58C23E5-5291-2275-D0C7-EFB11348AFD5}"/>
                      </a:ext>
                    </a:extLst>
                  </p:cNvPr>
                  <p:cNvSpPr txBox="1"/>
                  <p:nvPr/>
                </p:nvSpPr>
                <p:spPr>
                  <a:xfrm>
                    <a:off x="3338422" y="2828267"/>
                    <a:ext cx="327804" cy="293298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SG" sz="12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Text Box 20">
                    <a:extLst>
                      <a:ext uri="{FF2B5EF4-FFF2-40B4-BE49-F238E27FC236}">
                        <a16:creationId xmlns:a16="http://schemas.microsoft.com/office/drawing/2014/main" id="{F58C23E5-5291-2275-D0C7-EFB11348AF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422" y="2828267"/>
                    <a:ext cx="327804" cy="29329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BE98D31-1633-A6FB-E752-20091B8C8F21}"/>
                  </a:ext>
                </a:extLst>
              </p:cNvPr>
              <p:cNvGrpSpPr/>
              <p:nvPr/>
            </p:nvGrpSpPr>
            <p:grpSpPr>
              <a:xfrm>
                <a:off x="0" y="0"/>
                <a:ext cx="3433313" cy="2778695"/>
                <a:chOff x="0" y="0"/>
                <a:chExt cx="3433313" cy="2778695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FF1FE343-F834-5930-E973-15E099BA4208}"/>
                    </a:ext>
                  </a:extLst>
                </p:cNvPr>
                <p:cNvCxnSpPr/>
                <p:nvPr/>
              </p:nvCxnSpPr>
              <p:spPr>
                <a:xfrm flipH="1">
                  <a:off x="1388853" y="714795"/>
                  <a:ext cx="1597025" cy="1918335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2ECFD12-9D7F-0768-0FB7-B9D60FB6E717}"/>
                    </a:ext>
                  </a:extLst>
                </p:cNvPr>
                <p:cNvCxnSpPr/>
                <p:nvPr/>
              </p:nvCxnSpPr>
              <p:spPr>
                <a:xfrm flipH="1">
                  <a:off x="715992" y="248968"/>
                  <a:ext cx="1642745" cy="1973580"/>
                </a:xfrm>
                <a:prstGeom prst="line">
                  <a:avLst/>
                </a:prstGeom>
                <a:ln w="12700">
                  <a:solidFill>
                    <a:schemeClr val="accent2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A74C4405-62B7-ECDE-A0E5-0F30927F7AB1}"/>
                    </a:ext>
                  </a:extLst>
                </p:cNvPr>
                <p:cNvSpPr/>
                <p:nvPr/>
              </p:nvSpPr>
              <p:spPr>
                <a:xfrm>
                  <a:off x="1155939" y="1594689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9D4D58DD-E01D-5161-4884-E0416628F2B4}"/>
                    </a:ext>
                  </a:extLst>
                </p:cNvPr>
                <p:cNvSpPr/>
                <p:nvPr/>
              </p:nvSpPr>
              <p:spPr>
                <a:xfrm>
                  <a:off x="1250830" y="1465293"/>
                  <a:ext cx="94890" cy="9489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22C93FE-B5B8-FB4E-E41C-BD7545525FE3}"/>
                    </a:ext>
                  </a:extLst>
                </p:cNvPr>
                <p:cNvSpPr/>
                <p:nvPr/>
              </p:nvSpPr>
              <p:spPr>
                <a:xfrm>
                  <a:off x="1958196" y="1836229"/>
                  <a:ext cx="94890" cy="9489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/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A94AA918-E5B9-920D-B0E7-D4AE46DD22E9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3433313" cy="2778695"/>
                  <a:chOff x="0" y="0"/>
                  <a:chExt cx="3433313" cy="2778695"/>
                </a:xfrm>
              </p:grpSpPr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32200EAB-2EDE-3A25-B997-87C8637EDEC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30919" y="247728"/>
                    <a:ext cx="432" cy="2530967"/>
                  </a:xfrm>
                  <a:prstGeom prst="straightConnector1">
                    <a:avLst/>
                  </a:prstGeom>
                  <a:ln w="9525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0310B79F-E508-0DD0-2C94-A0D66A1344A6}"/>
                      </a:ext>
                    </a:extLst>
                  </p:cNvPr>
                  <p:cNvSpPr/>
                  <p:nvPr/>
                </p:nvSpPr>
                <p:spPr>
                  <a:xfrm>
                    <a:off x="733245" y="1222992"/>
                    <a:ext cx="94890" cy="9489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D72F8DBD-45A8-25A2-2C11-2C20DE971B3A}"/>
                      </a:ext>
                    </a:extLst>
                  </p:cNvPr>
                  <p:cNvSpPr/>
                  <p:nvPr/>
                </p:nvSpPr>
                <p:spPr>
                  <a:xfrm>
                    <a:off x="1233577" y="1257498"/>
                    <a:ext cx="94890" cy="9489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A1CAABED-B394-2F3B-70CC-33E82C177B6A}"/>
                      </a:ext>
                    </a:extLst>
                  </p:cNvPr>
                  <p:cNvSpPr/>
                  <p:nvPr/>
                </p:nvSpPr>
                <p:spPr>
                  <a:xfrm>
                    <a:off x="810883" y="1662939"/>
                    <a:ext cx="94615" cy="94615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82B3ED51-B7BD-B653-44A5-F1C490BD795E}"/>
                      </a:ext>
                    </a:extLst>
                  </p:cNvPr>
                  <p:cNvSpPr/>
                  <p:nvPr/>
                </p:nvSpPr>
                <p:spPr>
                  <a:xfrm>
                    <a:off x="1000664" y="1447279"/>
                    <a:ext cx="94890" cy="9489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C11812F3-D89B-6222-80FC-1133A4F8596B}"/>
                      </a:ext>
                    </a:extLst>
                  </p:cNvPr>
                  <p:cNvSpPr/>
                  <p:nvPr/>
                </p:nvSpPr>
                <p:spPr>
                  <a:xfrm>
                    <a:off x="586596" y="1455906"/>
                    <a:ext cx="94890" cy="9489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956A9081-685C-13C1-B0D3-453663A4915F}"/>
                      </a:ext>
                    </a:extLst>
                  </p:cNvPr>
                  <p:cNvSpPr/>
                  <p:nvPr/>
                </p:nvSpPr>
                <p:spPr>
                  <a:xfrm>
                    <a:off x="1958196" y="2059755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2FEB30A5-7AEA-96D4-448F-1104ED910132}"/>
                      </a:ext>
                    </a:extLst>
                  </p:cNvPr>
                  <p:cNvSpPr/>
                  <p:nvPr/>
                </p:nvSpPr>
                <p:spPr>
                  <a:xfrm>
                    <a:off x="2286000" y="1757830"/>
                    <a:ext cx="94615" cy="94615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AF3258FE-7BBD-6E79-AAEA-75A22A827AFB}"/>
                      </a:ext>
                    </a:extLst>
                  </p:cNvPr>
                  <p:cNvSpPr/>
                  <p:nvPr/>
                </p:nvSpPr>
                <p:spPr>
                  <a:xfrm>
                    <a:off x="2286000" y="1964864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851AA563-F2E9-3700-A8FA-6038497F71E9}"/>
                      </a:ext>
                    </a:extLst>
                  </p:cNvPr>
                  <p:cNvSpPr/>
                  <p:nvPr/>
                </p:nvSpPr>
                <p:spPr>
                  <a:xfrm>
                    <a:off x="2441275" y="2120139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ADAB8ACD-08D0-6E92-11EA-BCB435FCFFF0}"/>
                      </a:ext>
                    </a:extLst>
                  </p:cNvPr>
                  <p:cNvSpPr/>
                  <p:nvPr/>
                </p:nvSpPr>
                <p:spPr>
                  <a:xfrm>
                    <a:off x="2216988" y="2309921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 Box 19">
                        <a:extLst>
                          <a:ext uri="{FF2B5EF4-FFF2-40B4-BE49-F238E27FC236}">
                            <a16:creationId xmlns:a16="http://schemas.microsoft.com/office/drawing/2014/main" id="{854D950E-D7B5-EEDB-BEB5-A4CD544F326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0" y="170570"/>
                        <a:ext cx="327660" cy="292735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SG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9" name="Text Box 19">
                        <a:extLst>
                          <a:ext uri="{FF2B5EF4-FFF2-40B4-BE49-F238E27FC236}">
                            <a16:creationId xmlns:a16="http://schemas.microsoft.com/office/drawing/2014/main" id="{854D950E-D7B5-EEDB-BEB5-A4CD544F326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0" y="170570"/>
                        <a:ext cx="327660" cy="29273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EB3C3880-153E-21BF-A0AE-523025030E42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1000664" y="576011"/>
                    <a:ext cx="1595755" cy="1921556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ECD770D4-753C-E740-33E6-AE63CE897620}"/>
                      </a:ext>
                    </a:extLst>
                  </p:cNvPr>
                  <p:cNvSpPr/>
                  <p:nvPr/>
                </p:nvSpPr>
                <p:spPr>
                  <a:xfrm>
                    <a:off x="1000664" y="1197113"/>
                    <a:ext cx="94890" cy="9489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BB95EC70-7F8D-0A47-CBAC-0BA903515897}"/>
                      </a:ext>
                    </a:extLst>
                  </p:cNvPr>
                  <p:cNvSpPr/>
                  <p:nvPr/>
                </p:nvSpPr>
                <p:spPr>
                  <a:xfrm>
                    <a:off x="810883" y="1455906"/>
                    <a:ext cx="94890" cy="9489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7A9B11BD-9BBB-813F-AAFD-17D8B4DA234B}"/>
                      </a:ext>
                    </a:extLst>
                  </p:cNvPr>
                  <p:cNvSpPr/>
                  <p:nvPr/>
                </p:nvSpPr>
                <p:spPr>
                  <a:xfrm>
                    <a:off x="2191109" y="2128766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C5E64A18-3668-42FC-0551-46B16A038F12}"/>
                      </a:ext>
                    </a:extLst>
                  </p:cNvPr>
                  <p:cNvSpPr/>
                  <p:nvPr/>
                </p:nvSpPr>
                <p:spPr>
                  <a:xfrm>
                    <a:off x="2536166" y="1844094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EB2CF2EE-0F30-DE81-FEFC-1722B58BA7E6}"/>
                      </a:ext>
                    </a:extLst>
                  </p:cNvPr>
                  <p:cNvSpPr/>
                  <p:nvPr/>
                </p:nvSpPr>
                <p:spPr>
                  <a:xfrm>
                    <a:off x="1863305" y="2249536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B9A04D68-6CF0-F4AC-83D2-64D92BEE2928}"/>
                      </a:ext>
                    </a:extLst>
                  </p:cNvPr>
                  <p:cNvSpPr/>
                  <p:nvPr/>
                </p:nvSpPr>
                <p:spPr>
                  <a:xfrm>
                    <a:off x="2631056" y="2077007"/>
                    <a:ext cx="94890" cy="9489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GB"/>
                  </a:p>
                </p:txBody>
              </p:sp>
              <p:cxnSp>
                <p:nvCxnSpPr>
                  <p:cNvPr id="37" name="Straight Arrow Connector 36">
                    <a:extLst>
                      <a:ext uri="{FF2B5EF4-FFF2-40B4-BE49-F238E27FC236}">
                        <a16:creationId xmlns:a16="http://schemas.microsoft.com/office/drawing/2014/main" id="{D6D8E445-11EF-59C0-E7D1-73AD8273F795}"/>
                      </a:ext>
                    </a:extLst>
                  </p:cNvPr>
                  <p:cNvCxnSpPr/>
                  <p:nvPr/>
                </p:nvCxnSpPr>
                <p:spPr>
                  <a:xfrm>
                    <a:off x="2341832" y="282234"/>
                    <a:ext cx="611860" cy="482971"/>
                  </a:xfrm>
                  <a:prstGeom prst="straightConnector1">
                    <a:avLst/>
                  </a:prstGeom>
                  <a:ln>
                    <a:prstDash val="dash"/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8" name="Text Box 32">
                        <a:extLst>
                          <a:ext uri="{FF2B5EF4-FFF2-40B4-BE49-F238E27FC236}">
                            <a16:creationId xmlns:a16="http://schemas.microsoft.com/office/drawing/2014/main" id="{2ACD4630-E256-84A5-2499-1553CE3B8578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561106">
                        <a:off x="1317643" y="457200"/>
                        <a:ext cx="1207135" cy="292735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oMath>
                          </m:oMathPara>
                        </a14:m>
                        <a:endParaRPr lang="en-SG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8" name="Text Box 32">
                        <a:extLst>
                          <a:ext uri="{FF2B5EF4-FFF2-40B4-BE49-F238E27FC236}">
                            <a16:creationId xmlns:a16="http://schemas.microsoft.com/office/drawing/2014/main" id="{2ACD4630-E256-84A5-2499-1553CE3B857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8561106">
                        <a:off x="1317643" y="457200"/>
                        <a:ext cx="1207135" cy="29273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" name="Text Box 33">
                        <a:extLst>
                          <a:ext uri="{FF2B5EF4-FFF2-40B4-BE49-F238E27FC236}">
                            <a16:creationId xmlns:a16="http://schemas.microsoft.com/office/drawing/2014/main" id="{E118ADBC-7E79-448A-DEA4-686C642756B1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561106">
                        <a:off x="2171658" y="992038"/>
                        <a:ext cx="1207698" cy="293298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=−1</m:t>
                              </m:r>
                            </m:oMath>
                          </m:oMathPara>
                        </a14:m>
                        <a:endParaRPr lang="en-SG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9" name="Text Box 33">
                        <a:extLst>
                          <a:ext uri="{FF2B5EF4-FFF2-40B4-BE49-F238E27FC236}">
                            <a16:creationId xmlns:a16="http://schemas.microsoft.com/office/drawing/2014/main" id="{E118ADBC-7E79-448A-DEA4-686C642756B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8561106">
                        <a:off x="2171658" y="992038"/>
                        <a:ext cx="1207698" cy="293298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0" name="Text Box 34">
                        <a:extLst>
                          <a:ext uri="{FF2B5EF4-FFF2-40B4-BE49-F238E27FC236}">
                            <a16:creationId xmlns:a16="http://schemas.microsoft.com/office/drawing/2014/main" id="{48B7C41F-EE9B-97FC-DE02-513918009006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8561106">
                        <a:off x="1524677" y="836763"/>
                        <a:ext cx="1207135" cy="292735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sz="12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oMath>
                          </m:oMathPara>
                        </a14:m>
                        <a:endParaRPr lang="en-SG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0" name="Text Box 34">
                        <a:extLst>
                          <a:ext uri="{FF2B5EF4-FFF2-40B4-BE49-F238E27FC236}">
                            <a16:creationId xmlns:a16="http://schemas.microsoft.com/office/drawing/2014/main" id="{48B7C41F-EE9B-97FC-DE02-51391800900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8561106">
                        <a:off x="1524677" y="836763"/>
                        <a:ext cx="1207135" cy="292735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1" name="Text Box 35">
                        <a:extLst>
                          <a:ext uri="{FF2B5EF4-FFF2-40B4-BE49-F238E27FC236}">
                            <a16:creationId xmlns:a16="http://schemas.microsoft.com/office/drawing/2014/main" id="{1597D573-DE6A-8C18-ECBA-22F1FCE57B54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2378083">
                        <a:off x="2225615" y="100839"/>
                        <a:ext cx="1207698" cy="460711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f>
                                <m:f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2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m:oMathPara>
                        </a14:m>
                        <a:endParaRPr lang="en-SG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1" name="Text Box 35">
                        <a:extLst>
                          <a:ext uri="{FF2B5EF4-FFF2-40B4-BE49-F238E27FC236}">
                            <a16:creationId xmlns:a16="http://schemas.microsoft.com/office/drawing/2014/main" id="{1597D573-DE6A-8C18-ECBA-22F1FCE57B5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2378083">
                        <a:off x="2225615" y="100839"/>
                        <a:ext cx="1207698" cy="460711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 w="6350"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CBA6BC-9116-F28C-7F84-F1A443D7C91F}"/>
                </a:ext>
              </a:extLst>
            </p:cNvPr>
            <p:cNvSpPr txBox="1"/>
            <p:nvPr/>
          </p:nvSpPr>
          <p:spPr>
            <a:xfrm>
              <a:off x="3648852" y="1466392"/>
              <a:ext cx="9231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Margin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8193CA87-D33F-C4BF-2F4F-A1F0EE87A7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3539" y="1737136"/>
              <a:ext cx="536740" cy="3022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1E411D7-31B0-32F3-726C-7C6B0C8CE5DD}"/>
                </a:ext>
              </a:extLst>
            </p:cNvPr>
            <p:cNvSpPr txBox="1"/>
            <p:nvPr/>
          </p:nvSpPr>
          <p:spPr>
            <a:xfrm>
              <a:off x="1184191" y="1806096"/>
              <a:ext cx="92314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Support vectors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13DEF00F-005A-7CC8-BEB2-9B80AC67919F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1720317" y="2310235"/>
              <a:ext cx="43761" cy="72270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18AE393D-FB7D-6142-5619-6587C668806E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1719036" y="2302174"/>
              <a:ext cx="126028" cy="63493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FACE53B7-DAFE-C18A-3143-7E45E2399329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1729464" y="2310235"/>
              <a:ext cx="870335" cy="95029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97FBBA4-9FF6-769A-F987-343853207E58}"/>
                </a:ext>
              </a:extLst>
            </p:cNvPr>
            <p:cNvSpPr txBox="1"/>
            <p:nvPr/>
          </p:nvSpPr>
          <p:spPr>
            <a:xfrm>
              <a:off x="921177" y="4279943"/>
              <a:ext cx="17236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Decision boundary</a:t>
              </a: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6C777105-368C-27E9-38E2-290FE7DBFFCD}"/>
                </a:ext>
              </a:extLst>
            </p:cNvPr>
            <p:cNvCxnSpPr>
              <a:cxnSpLocks/>
              <a:stCxn id="93" idx="0"/>
            </p:cNvCxnSpPr>
            <p:nvPr/>
          </p:nvCxnSpPr>
          <p:spPr>
            <a:xfrm flipV="1">
              <a:off x="1783002" y="3667616"/>
              <a:ext cx="19611" cy="6123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3BFDAE-15D6-E34A-3A1D-BEDEE2E92E85}"/>
              </a:ext>
            </a:extLst>
          </p:cNvPr>
          <p:cNvSpPr txBox="1"/>
          <p:nvPr/>
        </p:nvSpPr>
        <p:spPr>
          <a:xfrm>
            <a:off x="4736311" y="2842190"/>
            <a:ext cx="12683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Reciprocal of margin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692C11E-876A-347A-325C-2FD08575E6EF}"/>
              </a:ext>
            </a:extLst>
          </p:cNvPr>
          <p:cNvCxnSpPr>
            <a:cxnSpLocks/>
          </p:cNvCxnSpPr>
          <p:nvPr/>
        </p:nvCxnSpPr>
        <p:spPr>
          <a:xfrm flipV="1">
            <a:off x="5366930" y="2443956"/>
            <a:ext cx="0" cy="3866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BED9D8C-EEA4-5CE5-864A-2A94A763A61A}"/>
                  </a:ext>
                </a:extLst>
              </p:cNvPr>
              <p:cNvSpPr txBox="1"/>
              <p:nvPr/>
            </p:nvSpPr>
            <p:spPr>
              <a:xfrm>
                <a:off x="6885528" y="2889676"/>
                <a:ext cx="17265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Penalty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violates margin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BED9D8C-EEA4-5CE5-864A-2A94A763A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528" y="2889676"/>
                <a:ext cx="1726511" cy="584775"/>
              </a:xfrm>
              <a:prstGeom prst="rect">
                <a:avLst/>
              </a:prstGeom>
              <a:blipFill>
                <a:blip r:embed="rId9"/>
                <a:stretch>
                  <a:fillRect t="-2128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BC2EEC0-11EE-18A8-5491-4050D6245289}"/>
              </a:ext>
            </a:extLst>
          </p:cNvPr>
          <p:cNvCxnSpPr>
            <a:cxnSpLocks/>
          </p:cNvCxnSpPr>
          <p:nvPr/>
        </p:nvCxnSpPr>
        <p:spPr>
          <a:xfrm flipV="1">
            <a:off x="7748784" y="2523120"/>
            <a:ext cx="0" cy="3866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ight Brace 43">
            <a:extLst>
              <a:ext uri="{FF2B5EF4-FFF2-40B4-BE49-F238E27FC236}">
                <a16:creationId xmlns:a16="http://schemas.microsoft.com/office/drawing/2014/main" id="{CDEAEA67-EE9D-A6CB-0A96-E5283E79D489}"/>
              </a:ext>
            </a:extLst>
          </p:cNvPr>
          <p:cNvSpPr/>
          <p:nvPr/>
        </p:nvSpPr>
        <p:spPr>
          <a:xfrm rot="5400000">
            <a:off x="5286690" y="2101056"/>
            <a:ext cx="156095" cy="521101"/>
          </a:xfrm>
          <a:prstGeom prst="rightBrace">
            <a:avLst>
              <a:gd name="adj1" fmla="val 54629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Brace 54">
            <a:extLst>
              <a:ext uri="{FF2B5EF4-FFF2-40B4-BE49-F238E27FC236}">
                <a16:creationId xmlns:a16="http://schemas.microsoft.com/office/drawing/2014/main" id="{202BE3A5-4F06-D81B-6B88-473EBCB070D4}"/>
              </a:ext>
            </a:extLst>
          </p:cNvPr>
          <p:cNvSpPr/>
          <p:nvPr/>
        </p:nvSpPr>
        <p:spPr>
          <a:xfrm rot="5400000">
            <a:off x="7676825" y="1157036"/>
            <a:ext cx="148551" cy="2471149"/>
          </a:xfrm>
          <a:prstGeom prst="rightBrace">
            <a:avLst>
              <a:gd name="adj1" fmla="val 54629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97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84B3-BE50-43CD-ED09-F42E8DBC2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Gradient Descend (SGD)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73766-E6BB-9038-6F97-4256DBA13E56}"/>
              </a:ext>
            </a:extLst>
          </p:cNvPr>
          <p:cNvSpPr/>
          <p:nvPr/>
        </p:nvSpPr>
        <p:spPr>
          <a:xfrm>
            <a:off x="594360" y="565190"/>
            <a:ext cx="36576" cy="41148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2D85E5F8-299D-17E3-D65E-9BE5CB310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1" y="1463240"/>
                <a:ext cx="3286608" cy="61136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Tx/>
                  <a:buBlip>
                    <a:blip r:embed="rId2"/>
                  </a:buBlip>
                  <a:defRPr sz="2100" kern="1200">
                    <a:solidFill>
                      <a:srgbClr val="004282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Tx/>
                  <a:buBlip>
                    <a:blip r:embed="rId2"/>
                  </a:buBlip>
                  <a:defRPr sz="1800" kern="1200">
                    <a:solidFill>
                      <a:srgbClr val="004282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Tx/>
                  <a:buBlip>
                    <a:blip r:embed="rId2"/>
                  </a:buBlip>
                  <a:defRPr sz="1500" kern="1200">
                    <a:solidFill>
                      <a:srgbClr val="004282"/>
                    </a:solidFill>
                    <a:latin typeface="Arial" charset="0"/>
                    <a:ea typeface="Arial" charset="0"/>
                    <a:cs typeface="Arial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Tx/>
                  <a:buBlip>
                    <a:blip r:embed="rId2"/>
                  </a:buBlip>
                  <a:defRPr sz="1350" kern="1200">
                    <a:solidFill>
                      <a:srgbClr val="004282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Tx/>
                  <a:buBlip>
                    <a:blip r:embed="rId2"/>
                  </a:buBlip>
                  <a:defRPr sz="1350" kern="1200">
                    <a:solidFill>
                      <a:srgbClr val="004282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 xmlns:m="http://schemas.openxmlformats.org/officeDocument/2006/math">
                    <m:r>
                      <a:rPr lang="en-US" sz="19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𝒘</m:t>
                    </m:r>
                    <m:r>
                      <a:rPr lang="en-US" sz="19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19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𝒘</m:t>
                    </m:r>
                    <m:r>
                      <a:rPr lang="en-US" sz="19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19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𝜂</m:t>
                    </m:r>
                    <m:f>
                      <m:fPr>
                        <m:ctrlPr>
                          <a:rPr lang="en-US" sz="19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9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  <m:r>
                          <a:rPr lang="en-US" sz="19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19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𝒘</m:t>
                        </m:r>
                        <m:r>
                          <a:rPr lang="en-US" sz="19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en-US" sz="19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sz="19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𝒘</m:t>
                        </m:r>
                      </m:den>
                    </m:f>
                  </m:oMath>
                </a14:m>
                <a:endParaRPr lang="en-SG" sz="1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2D85E5F8-299D-17E3-D65E-9BE5CB310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1" y="1463240"/>
                <a:ext cx="3286608" cy="6113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Content Placeholder 4">
            <a:extLst>
              <a:ext uri="{FF2B5EF4-FFF2-40B4-BE49-F238E27FC236}">
                <a16:creationId xmlns:a16="http://schemas.microsoft.com/office/drawing/2014/main" id="{DB360239-BEB3-A3A9-2C83-801C770C7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/>
          <a:stretch/>
        </p:blipFill>
        <p:spPr>
          <a:xfrm>
            <a:off x="456708" y="1463240"/>
            <a:ext cx="3620628" cy="271547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7539FF5-5C66-3308-9404-E21964515B7D}"/>
              </a:ext>
            </a:extLst>
          </p:cNvPr>
          <p:cNvSpPr/>
          <p:nvPr/>
        </p:nvSpPr>
        <p:spPr>
          <a:xfrm>
            <a:off x="1391386" y="1593597"/>
            <a:ext cx="2423135" cy="147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0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84B3-BE50-43CD-ED09-F42E8DBC2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Gradient Descend (SGD)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73766-E6BB-9038-6F97-4256DBA13E56}"/>
              </a:ext>
            </a:extLst>
          </p:cNvPr>
          <p:cNvSpPr/>
          <p:nvPr/>
        </p:nvSpPr>
        <p:spPr>
          <a:xfrm>
            <a:off x="594360" y="565190"/>
            <a:ext cx="36576" cy="41148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307BF4-C554-849F-D6B5-FA099E37A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56708" y="1463240"/>
            <a:ext cx="3620628" cy="27154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410F56D-0567-3068-532E-4F62E751BA72}"/>
              </a:ext>
            </a:extLst>
          </p:cNvPr>
          <p:cNvSpPr/>
          <p:nvPr/>
        </p:nvSpPr>
        <p:spPr>
          <a:xfrm>
            <a:off x="1391386" y="1593597"/>
            <a:ext cx="2423135" cy="147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2D85E5F8-299D-17E3-D65E-9BE5CB310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75355" y="1463239"/>
                <a:ext cx="4621162" cy="30104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Tx/>
                  <a:buBlip>
                    <a:blip r:embed="rId3"/>
                  </a:buBlip>
                  <a:defRPr sz="2100" kern="1200">
                    <a:solidFill>
                      <a:srgbClr val="004282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Tx/>
                  <a:buBlip>
                    <a:blip r:embed="rId3"/>
                  </a:buBlip>
                  <a:defRPr sz="1800" kern="1200">
                    <a:solidFill>
                      <a:srgbClr val="004282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Tx/>
                  <a:buBlip>
                    <a:blip r:embed="rId3"/>
                  </a:buBlip>
                  <a:defRPr sz="1500" kern="1200">
                    <a:solidFill>
                      <a:srgbClr val="004282"/>
                    </a:solidFill>
                    <a:latin typeface="Arial" charset="0"/>
                    <a:ea typeface="Arial" charset="0"/>
                    <a:cs typeface="Arial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Tx/>
                  <a:buBlip>
                    <a:blip r:embed="rId3"/>
                  </a:buBlip>
                  <a:defRPr sz="1350" kern="1200">
                    <a:solidFill>
                      <a:srgbClr val="004282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Tx/>
                  <a:buBlip>
                    <a:blip r:embed="rId3"/>
                  </a:buBlip>
                  <a:defRPr sz="1350" kern="1200">
                    <a:solidFill>
                      <a:srgbClr val="004282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SG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Applying to </a:t>
                </a:r>
                <a14:m>
                  <m:oMath xmlns:m="http://schemas.openxmlformats.org/officeDocument/2006/math">
                    <m:r>
                      <a:rPr lang="en-SG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SG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SG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𝒘</m:t>
                    </m:r>
                    <m:r>
                      <a:rPr lang="en-SG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SG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SG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SG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:endParaRPr lang="en-SG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sz="16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6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𝒘</m:t>
                      </m:r>
                      <m:r>
                        <a:rPr lang="en-US" sz="16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16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sz="16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6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16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𝒘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sz="16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ma</m:t>
                          </m:r>
                          <m:func>
                            <m:funcPr>
                              <m:ctrlPr>
                                <a:rPr lang="en-US" sz="16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0,1−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b="1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600" b="1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1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p>
                                          <m:r>
                                            <a:rPr lang="en-US" sz="1600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sz="1600" b="1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1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1600" b="1" i="1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6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SG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SG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In every update iteration: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𝒘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𝒘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den>
                      </m:f>
                    </m:oMath>
                  </m:oMathPara>
                </a14:m>
                <a:endParaRPr lang="en-SG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:endParaRPr lang="en-SG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SG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2D85E5F8-299D-17E3-D65E-9BE5CB310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355" y="1463239"/>
                <a:ext cx="4621162" cy="3010438"/>
              </a:xfrm>
              <a:prstGeom prst="rect">
                <a:avLst/>
              </a:prstGeom>
              <a:blipFill>
                <a:blip r:embed="rId4"/>
                <a:stretch>
                  <a:fillRect t="-12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4442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67229-472B-0F0F-AE0A-BBAD68CC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7D712-B749-923B-51D3-427F3FF14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8" y="1647777"/>
                <a:ext cx="7886700" cy="923973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200" dirty="0"/>
                  <a:t>Learning rate decay: Reduces learning rate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200" dirty="0"/>
                  <a:t> after every N iterations.</a:t>
                </a:r>
              </a:p>
              <a:p>
                <a:pPr algn="just"/>
                <a:r>
                  <a:rPr lang="en-SG" sz="2200" dirty="0"/>
                  <a:t>Updates </a:t>
                </a:r>
                <a14:m>
                  <m:oMath xmlns:m="http://schemas.openxmlformats.org/officeDocument/2006/math">
                    <m:r>
                      <a:rPr lang="en-SG" sz="2200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SG" sz="2200" dirty="0"/>
                  <a:t> and </a:t>
                </a:r>
                <a14:m>
                  <m:oMath xmlns:m="http://schemas.openxmlformats.org/officeDocument/2006/math">
                    <m:r>
                      <a:rPr lang="en-SG" sz="22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SG" sz="2200" dirty="0"/>
                  <a:t> every few samples (e.g., every 64 or 128 samples) rather than after each individual sample.</a:t>
                </a:r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7D712-B749-923B-51D3-427F3FF14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8" y="1647777"/>
                <a:ext cx="7886700" cy="923973"/>
              </a:xfrm>
              <a:blipFill>
                <a:blip r:embed="rId2"/>
                <a:stretch>
                  <a:fillRect t="-6757" r="-965" b="-6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A892AB7-399A-A6A4-EFDE-03BCFE3A61E4}"/>
              </a:ext>
            </a:extLst>
          </p:cNvPr>
          <p:cNvSpPr/>
          <p:nvPr/>
        </p:nvSpPr>
        <p:spPr>
          <a:xfrm>
            <a:off x="594360" y="565190"/>
            <a:ext cx="36576" cy="41148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1841592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3F58-14C2-1C65-58E2-C549BA1A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36A500-A209-31A4-5486-A9B4255E713C}"/>
              </a:ext>
            </a:extLst>
          </p:cNvPr>
          <p:cNvSpPr/>
          <p:nvPr/>
        </p:nvSpPr>
        <p:spPr>
          <a:xfrm>
            <a:off x="594360" y="565190"/>
            <a:ext cx="36576" cy="41148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EC887ED-B78D-4856-2D9C-D0FAB50836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" r="-255"/>
          <a:stretch>
            <a:fillRect/>
          </a:stretch>
        </p:blipFill>
        <p:spPr>
          <a:xfrm>
            <a:off x="594360" y="1756008"/>
            <a:ext cx="5083277" cy="13411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0245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78D7-DB24-0271-3A13-54DAEC86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D29F5-4692-37D4-25E3-92F0DBF59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8103" y="1623796"/>
            <a:ext cx="4887247" cy="2568427"/>
          </a:xfrm>
        </p:spPr>
        <p:txBody>
          <a:bodyPr>
            <a:normAutofit/>
          </a:bodyPr>
          <a:lstStyle/>
          <a:p>
            <a:r>
              <a:rPr lang="en-US" dirty="0"/>
              <a:t>One-vs-All approach: Train a binary classifier to separate each class vs. the rest.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7A88C8-6C6C-02EE-15DA-60F0DB6927EE}"/>
              </a:ext>
            </a:extLst>
          </p:cNvPr>
          <p:cNvSpPr/>
          <p:nvPr/>
        </p:nvSpPr>
        <p:spPr>
          <a:xfrm>
            <a:off x="594360" y="565190"/>
            <a:ext cx="36576" cy="411480"/>
          </a:xfrm>
          <a:prstGeom prst="rect">
            <a:avLst/>
          </a:prstGeom>
          <a:solidFill>
            <a:srgbClr val="ED7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3A70FD-81EA-FCCC-00C2-2326E4DA17DE}"/>
              </a:ext>
            </a:extLst>
          </p:cNvPr>
          <p:cNvCxnSpPr/>
          <p:nvPr/>
        </p:nvCxnSpPr>
        <p:spPr>
          <a:xfrm flipV="1">
            <a:off x="628650" y="1759974"/>
            <a:ext cx="0" cy="223192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CF850A-6FB3-3369-5ECE-BA4BC3AFFB12}"/>
              </a:ext>
            </a:extLst>
          </p:cNvPr>
          <p:cNvCxnSpPr/>
          <p:nvPr/>
        </p:nvCxnSpPr>
        <p:spPr>
          <a:xfrm>
            <a:off x="628650" y="3991897"/>
            <a:ext cx="266515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1EE603C-8A3F-D1F0-7BFE-2913009B6765}"/>
              </a:ext>
            </a:extLst>
          </p:cNvPr>
          <p:cNvSpPr/>
          <p:nvPr/>
        </p:nvSpPr>
        <p:spPr>
          <a:xfrm>
            <a:off x="943898" y="2477730"/>
            <a:ext cx="117967" cy="1179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635B05D-8ED4-B437-6AFB-1E51DAE85215}"/>
              </a:ext>
            </a:extLst>
          </p:cNvPr>
          <p:cNvSpPr/>
          <p:nvPr/>
        </p:nvSpPr>
        <p:spPr>
          <a:xfrm>
            <a:off x="884914" y="2698803"/>
            <a:ext cx="117967" cy="1179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DB50329-9429-499C-B503-0EC8F6D78256}"/>
              </a:ext>
            </a:extLst>
          </p:cNvPr>
          <p:cNvSpPr/>
          <p:nvPr/>
        </p:nvSpPr>
        <p:spPr>
          <a:xfrm>
            <a:off x="1066771" y="2600460"/>
            <a:ext cx="117967" cy="1179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BB6EBE-A338-59DA-E54E-FDBC65858E16}"/>
              </a:ext>
            </a:extLst>
          </p:cNvPr>
          <p:cNvSpPr/>
          <p:nvPr/>
        </p:nvSpPr>
        <p:spPr>
          <a:xfrm>
            <a:off x="1184738" y="2364668"/>
            <a:ext cx="117967" cy="1179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695379-2726-3DD5-B5D2-ACC85EC06956}"/>
              </a:ext>
            </a:extLst>
          </p:cNvPr>
          <p:cNvSpPr/>
          <p:nvPr/>
        </p:nvSpPr>
        <p:spPr>
          <a:xfrm>
            <a:off x="1233909" y="2718427"/>
            <a:ext cx="117967" cy="1179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B2C309C-04CD-1E51-4124-AE78D8078B11}"/>
              </a:ext>
            </a:extLst>
          </p:cNvPr>
          <p:cNvSpPr/>
          <p:nvPr/>
        </p:nvSpPr>
        <p:spPr>
          <a:xfrm>
            <a:off x="1091356" y="2821533"/>
            <a:ext cx="117967" cy="1179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BB7197C-3590-5930-B289-F808AC0F2E16}"/>
              </a:ext>
            </a:extLst>
          </p:cNvPr>
          <p:cNvSpPr/>
          <p:nvPr/>
        </p:nvSpPr>
        <p:spPr>
          <a:xfrm>
            <a:off x="1951426" y="2492143"/>
            <a:ext cx="117967" cy="1179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EEF599-BA58-CC1E-AD0B-E6A2E7CC2AC5}"/>
              </a:ext>
            </a:extLst>
          </p:cNvPr>
          <p:cNvSpPr/>
          <p:nvPr/>
        </p:nvSpPr>
        <p:spPr>
          <a:xfrm>
            <a:off x="2103826" y="2644543"/>
            <a:ext cx="117967" cy="1179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C54DF90-B129-9FB2-DC4E-B41A685C48FC}"/>
              </a:ext>
            </a:extLst>
          </p:cNvPr>
          <p:cNvSpPr/>
          <p:nvPr/>
        </p:nvSpPr>
        <p:spPr>
          <a:xfrm>
            <a:off x="2253753" y="2492143"/>
            <a:ext cx="117967" cy="1179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ABE1811-2F28-552C-6057-B2B9B74F44A8}"/>
              </a:ext>
            </a:extLst>
          </p:cNvPr>
          <p:cNvSpPr/>
          <p:nvPr/>
        </p:nvSpPr>
        <p:spPr>
          <a:xfrm>
            <a:off x="2221505" y="2790042"/>
            <a:ext cx="117967" cy="1179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C9BDF62-CDCB-F77E-1BC4-8239485AAC04}"/>
              </a:ext>
            </a:extLst>
          </p:cNvPr>
          <p:cNvSpPr/>
          <p:nvPr/>
        </p:nvSpPr>
        <p:spPr>
          <a:xfrm>
            <a:off x="2140405" y="2261429"/>
            <a:ext cx="117967" cy="1179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876BE74-15EB-A55B-2523-36B35C45633A}"/>
              </a:ext>
            </a:extLst>
          </p:cNvPr>
          <p:cNvSpPr/>
          <p:nvPr/>
        </p:nvSpPr>
        <p:spPr>
          <a:xfrm>
            <a:off x="2450649" y="2696473"/>
            <a:ext cx="117967" cy="1179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E74CC88-98C2-7BCE-3965-FAA1CBB8F55E}"/>
              </a:ext>
            </a:extLst>
          </p:cNvPr>
          <p:cNvSpPr/>
          <p:nvPr/>
        </p:nvSpPr>
        <p:spPr>
          <a:xfrm>
            <a:off x="2500104" y="2266345"/>
            <a:ext cx="117967" cy="1179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B9DAE1D-00D9-D83B-AD9C-34866BF9E30F}"/>
              </a:ext>
            </a:extLst>
          </p:cNvPr>
          <p:cNvSpPr/>
          <p:nvPr/>
        </p:nvSpPr>
        <p:spPr>
          <a:xfrm>
            <a:off x="1629154" y="3244434"/>
            <a:ext cx="117967" cy="11796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57DA6E6-8813-2526-DBD1-880497D52A8C}"/>
              </a:ext>
            </a:extLst>
          </p:cNvPr>
          <p:cNvSpPr/>
          <p:nvPr/>
        </p:nvSpPr>
        <p:spPr>
          <a:xfrm>
            <a:off x="1799315" y="3355162"/>
            <a:ext cx="117967" cy="11796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1CFA0AB-18C5-47FE-67F8-57D650AC2EA3}"/>
              </a:ext>
            </a:extLst>
          </p:cNvPr>
          <p:cNvSpPr/>
          <p:nvPr/>
        </p:nvSpPr>
        <p:spPr>
          <a:xfrm>
            <a:off x="1951715" y="3507562"/>
            <a:ext cx="117967" cy="11796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34E65C-66BA-1ADB-26A7-6EE551CF452A}"/>
              </a:ext>
            </a:extLst>
          </p:cNvPr>
          <p:cNvSpPr/>
          <p:nvPr/>
        </p:nvSpPr>
        <p:spPr>
          <a:xfrm>
            <a:off x="1629153" y="3549232"/>
            <a:ext cx="117967" cy="11796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3D890B8-D43E-F143-7FAA-3D204D908A8E}"/>
                  </a:ext>
                </a:extLst>
              </p:cNvPr>
              <p:cNvSpPr txBox="1"/>
              <p:nvPr/>
            </p:nvSpPr>
            <p:spPr>
              <a:xfrm>
                <a:off x="2921526" y="4007557"/>
                <a:ext cx="4031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vi-V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vi-V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3D890B8-D43E-F143-7FAA-3D204D908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526" y="4007557"/>
                <a:ext cx="403123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CCE6173-98D4-8BC8-845F-5B02A1408B68}"/>
                  </a:ext>
                </a:extLst>
              </p:cNvPr>
              <p:cNvSpPr txBox="1"/>
              <p:nvPr/>
            </p:nvSpPr>
            <p:spPr>
              <a:xfrm>
                <a:off x="225527" y="1638126"/>
                <a:ext cx="4031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vi-V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vi-V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CCE6173-98D4-8BC8-845F-5B02A1408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27" y="1638126"/>
                <a:ext cx="40312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15B7F8B-3EB0-2BFB-A48E-A7F19F520057}"/>
                  </a:ext>
                </a:extLst>
              </p:cNvPr>
              <p:cNvSpPr txBox="1"/>
              <p:nvPr/>
            </p:nvSpPr>
            <p:spPr>
              <a:xfrm>
                <a:off x="889769" y="1987582"/>
                <a:ext cx="4031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vi-VN" sz="1600" i="1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15B7F8B-3EB0-2BFB-A48E-A7F19F520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69" y="1987582"/>
                <a:ext cx="40312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E59FA45-7F3D-1D2E-DCF5-A908C3086EE6}"/>
                  </a:ext>
                </a:extLst>
              </p:cNvPr>
              <p:cNvSpPr txBox="1"/>
              <p:nvPr/>
            </p:nvSpPr>
            <p:spPr>
              <a:xfrm>
                <a:off x="2082927" y="1787885"/>
                <a:ext cx="4031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vi-VN" sz="1600" i="1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E59FA45-7F3D-1D2E-DCF5-A908C3086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2927" y="1787885"/>
                <a:ext cx="40312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A28DA02-A8FE-7D5C-C2FF-4CF34563896A}"/>
                  </a:ext>
                </a:extLst>
              </p:cNvPr>
              <p:cNvSpPr txBox="1"/>
              <p:nvPr/>
            </p:nvSpPr>
            <p:spPr>
              <a:xfrm>
                <a:off x="1972313" y="3586646"/>
                <a:ext cx="4031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vi-VN" sz="1600" i="1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A28DA02-A8FE-7D5C-C2FF-4CF345638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313" y="3586646"/>
                <a:ext cx="40312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1C1B3B9-35BD-581E-A425-C1CBC688C56A}"/>
              </a:ext>
            </a:extLst>
          </p:cNvPr>
          <p:cNvCxnSpPr>
            <a:cxnSpLocks/>
          </p:cNvCxnSpPr>
          <p:nvPr/>
        </p:nvCxnSpPr>
        <p:spPr>
          <a:xfrm flipH="1">
            <a:off x="1120538" y="1957162"/>
            <a:ext cx="726984" cy="1798761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2CBB7F9-FA98-96EA-F55E-19DCB10635A3}"/>
              </a:ext>
            </a:extLst>
          </p:cNvPr>
          <p:cNvCxnSpPr>
            <a:cxnSpLocks/>
          </p:cNvCxnSpPr>
          <p:nvPr/>
        </p:nvCxnSpPr>
        <p:spPr>
          <a:xfrm>
            <a:off x="1272761" y="1995835"/>
            <a:ext cx="1171997" cy="1570710"/>
          </a:xfrm>
          <a:prstGeom prst="line">
            <a:avLst/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82F8BAE-024C-F11A-19AD-12AB813DA845}"/>
              </a:ext>
            </a:extLst>
          </p:cNvPr>
          <p:cNvCxnSpPr/>
          <p:nvPr/>
        </p:nvCxnSpPr>
        <p:spPr>
          <a:xfrm>
            <a:off x="792939" y="3057833"/>
            <a:ext cx="1890484" cy="0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46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847450F48B284898351F2B605832B5" ma:contentTypeVersion="3" ma:contentTypeDescription="Create a new document." ma:contentTypeScope="" ma:versionID="d87a6f986c4ba1a41d3bef1b68d1f1c9">
  <xsd:schema xmlns:xsd="http://www.w3.org/2001/XMLSchema" xmlns:xs="http://www.w3.org/2001/XMLSchema" xmlns:p="http://schemas.microsoft.com/office/2006/metadata/properties" xmlns:ns2="30be04a9-5b94-4208-8718-19ec076c0330" targetNamespace="http://schemas.microsoft.com/office/2006/metadata/properties" ma:root="true" ma:fieldsID="c943ffb77ca55388d446988884c68e91" ns2:_="">
    <xsd:import namespace="30be04a9-5b94-4208-8718-19ec076c03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be04a9-5b94-4208-8718-19ec076c03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F81CB66-DBC1-4E15-BD64-5F740CE3534C}"/>
</file>

<file path=customXml/itemProps2.xml><?xml version="1.0" encoding="utf-8"?>
<ds:datastoreItem xmlns:ds="http://schemas.openxmlformats.org/officeDocument/2006/customXml" ds:itemID="{2117C01B-3F3D-4028-B6F5-8EEF80F8E1A2}"/>
</file>

<file path=customXml/itemProps3.xml><?xml version="1.0" encoding="utf-8"?>
<ds:datastoreItem xmlns:ds="http://schemas.openxmlformats.org/officeDocument/2006/customXml" ds:itemID="{83097A30-22E3-4C92-9C65-4EFAE2FF3794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4263</TotalTime>
  <Words>280</Words>
  <Application>Microsoft Macintosh PowerPoint</Application>
  <PresentationFormat>On-screen Show (16:9)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Times New Roman</vt:lpstr>
      <vt:lpstr>Office Theme</vt:lpstr>
      <vt:lpstr>CG3201 Lab 1 Briefing</vt:lpstr>
      <vt:lpstr>Support Vector Machine (SVM)</vt:lpstr>
      <vt:lpstr>Support Vector Machine (SVM)</vt:lpstr>
      <vt:lpstr>Support Vector Machine (SVM)</vt:lpstr>
      <vt:lpstr>Support Vector Machine (SVM)</vt:lpstr>
      <vt:lpstr>Stochastic Gradient Descend (SGD)</vt:lpstr>
      <vt:lpstr>Stochastic Gradient Descend (SGD)</vt:lpstr>
      <vt:lpstr>Implementation</vt:lpstr>
      <vt:lpstr>Template</vt:lpstr>
      <vt:lpstr>Multi-Class SVM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Yihan LIAN</dc:creator>
  <cp:lastModifiedBy>Ngoc Nhu Thao Nguyen</cp:lastModifiedBy>
  <cp:revision>243</cp:revision>
  <dcterms:created xsi:type="dcterms:W3CDTF">2018-08-16T03:57:50Z</dcterms:created>
  <dcterms:modified xsi:type="dcterms:W3CDTF">2026-08-13T09:11:55Z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0x0101005D847450F48B284898351F2B605832B5</vt:lpwstr>
  </property>
</Properties>
</file>